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01" r:id="rId3"/>
    <p:sldId id="312" r:id="rId4"/>
    <p:sldId id="322" r:id="rId5"/>
    <p:sldId id="328" r:id="rId6"/>
    <p:sldId id="320" r:id="rId7"/>
    <p:sldId id="323" r:id="rId8"/>
    <p:sldId id="329" r:id="rId9"/>
    <p:sldId id="324" r:id="rId10"/>
    <p:sldId id="330" r:id="rId11"/>
    <p:sldId id="325" r:id="rId12"/>
    <p:sldId id="318" r:id="rId13"/>
    <p:sldId id="342" r:id="rId14"/>
    <p:sldId id="321" r:id="rId15"/>
    <p:sldId id="326" r:id="rId16"/>
    <p:sldId id="302" r:id="rId17"/>
    <p:sldId id="327" r:id="rId18"/>
    <p:sldId id="305" r:id="rId19"/>
    <p:sldId id="311" r:id="rId20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64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-1032" y="-68"/>
      </p:cViewPr>
      <p:guideLst>
        <p:guide orient="horz" pos="2132"/>
        <p:guide pos="28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12B5C-6A00-40EE-999C-7CA55AF207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EED98-3D6C-4F96-8216-AB0451006E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08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7" r="7342"/>
          <a:stretch>
            <a:fillRect/>
          </a:stretch>
        </p:blipFill>
        <p:spPr>
          <a:xfrm>
            <a:off x="134370" y="122915"/>
            <a:ext cx="8876280" cy="6578019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209619" y="1920210"/>
            <a:ext cx="4724763" cy="3246181"/>
          </a:xfrm>
          <a:prstGeom prst="rect">
            <a:avLst/>
          </a:prstGeom>
          <a:solidFill>
            <a:srgbClr val="EBE4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/>
        </p:nvSpPr>
        <p:spPr>
          <a:xfrm>
            <a:off x="2292996" y="2098881"/>
            <a:ext cx="4558009" cy="2905489"/>
          </a:xfrm>
          <a:prstGeom prst="rect">
            <a:avLst/>
          </a:prstGeom>
          <a:noFill/>
          <a:ln w="76200">
            <a:solidFill>
              <a:srgbClr val="8F83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464904" y="2207985"/>
            <a:ext cx="4244009" cy="1720077"/>
          </a:xfrm>
        </p:spPr>
        <p:txBody>
          <a:bodyPr>
            <a:noAutofit/>
          </a:bodyPr>
          <a:lstStyle>
            <a:lvl1pPr algn="ctr">
              <a:defRPr sz="3000" baseline="0">
                <a:solidFill>
                  <a:srgbClr val="543715"/>
                </a:solidFill>
                <a:effectLst/>
                <a:latin typeface="+mj-lt"/>
              </a:defRPr>
            </a:lvl1pPr>
          </a:lstStyle>
          <a:p>
            <a:r>
              <a:rPr lang="zh-CN" altLang="en-US"/>
              <a:t>单击此处</a:t>
            </a:r>
            <a:br>
              <a:rPr lang="en-US" altLang="zh-CN"/>
            </a:br>
            <a:r>
              <a:rPr lang="zh-CN" altLang="en-US"/>
              <a:t>添加</a:t>
            </a:r>
            <a:r>
              <a:rPr lang="zh-CN" altLang="en-US" dirty="0"/>
              <a:t>您的标题文字</a:t>
            </a:r>
            <a:endParaRPr lang="zh-CN" altLang="en-US" dirty="0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464904" y="4378214"/>
            <a:ext cx="4244009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rgbClr val="8F8363"/>
                </a:solidFill>
                <a:effectLst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2686051" y="4119432"/>
            <a:ext cx="3883715" cy="0"/>
          </a:xfrm>
          <a:prstGeom prst="line">
            <a:avLst/>
          </a:prstGeom>
          <a:ln>
            <a:solidFill>
              <a:srgbClr val="8F83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347064" y="4019428"/>
            <a:ext cx="604501" cy="222265"/>
            <a:chOff x="4398820" y="4019428"/>
            <a:chExt cx="380593" cy="191371"/>
          </a:xfrm>
        </p:grpSpPr>
        <p:sp>
          <p:nvSpPr>
            <p:cNvPr id="15" name="椭圆 14"/>
            <p:cNvSpPr/>
            <p:nvPr/>
          </p:nvSpPr>
          <p:spPr>
            <a:xfrm>
              <a:off x="4515144" y="4019428"/>
              <a:ext cx="143528" cy="191371"/>
            </a:xfrm>
            <a:prstGeom prst="ellipse">
              <a:avLst/>
            </a:prstGeom>
            <a:solidFill>
              <a:srgbClr val="5437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6" name="椭圆 15"/>
            <p:cNvSpPr/>
            <p:nvPr/>
          </p:nvSpPr>
          <p:spPr>
            <a:xfrm>
              <a:off x="4398820" y="4051345"/>
              <a:ext cx="86266" cy="115021"/>
            </a:xfrm>
            <a:prstGeom prst="ellipse">
              <a:avLst/>
            </a:prstGeom>
            <a:solidFill>
              <a:srgbClr val="5437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7" name="椭圆 16"/>
            <p:cNvSpPr/>
            <p:nvPr/>
          </p:nvSpPr>
          <p:spPr>
            <a:xfrm>
              <a:off x="4693147" y="4051344"/>
              <a:ext cx="86266" cy="115021"/>
            </a:xfrm>
            <a:prstGeom prst="ellipse">
              <a:avLst/>
            </a:prstGeom>
            <a:solidFill>
              <a:srgbClr val="5437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08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1" t="3198" r="9008" b="4176"/>
          <a:stretch>
            <a:fillRect/>
          </a:stretch>
        </p:blipFill>
        <p:spPr>
          <a:xfrm>
            <a:off x="140244" y="179778"/>
            <a:ext cx="8839366" cy="6467766"/>
          </a:xfrm>
          <a:prstGeom prst="rect">
            <a:avLst/>
          </a:prstGeom>
        </p:spPr>
      </p:pic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17486" y="2905988"/>
            <a:ext cx="5050971" cy="696644"/>
          </a:xfrm>
        </p:spPr>
        <p:txBody>
          <a:bodyPr anchor="ctr">
            <a:normAutofit/>
          </a:bodyPr>
          <a:lstStyle>
            <a:lvl1pPr algn="ctr">
              <a:defRPr sz="30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1544189" y="4259286"/>
            <a:ext cx="5995987" cy="46800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accent3">
                    <a:lumMod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1244603"/>
            <a:ext cx="381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1244603"/>
            <a:ext cx="3820587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118532"/>
            <a:ext cx="6984076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7" y="13763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015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7" y="22002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7" y="13763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015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7" y="22002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62" b="235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3" y="533403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1063631"/>
            <a:ext cx="4629150" cy="4873625"/>
          </a:xfrm>
        </p:spPr>
        <p:txBody>
          <a:bodyPr>
            <a:normAutofit/>
          </a:bodyPr>
          <a:lstStyle>
            <a:lvl1pPr>
              <a:defRPr sz="1125"/>
            </a:lvl1pPr>
            <a:lvl2pPr>
              <a:defRPr sz="1015"/>
            </a:lvl2pPr>
            <a:lvl3pPr>
              <a:defRPr sz="900"/>
            </a:lvl3pPr>
            <a:lvl4pPr>
              <a:defRPr sz="790"/>
            </a:lvl4pPr>
            <a:lvl5pPr>
              <a:defRPr sz="79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3" y="2133603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987430"/>
            <a:ext cx="462915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2057401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8" y="365128"/>
            <a:ext cx="886883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2" y="365128"/>
            <a:ext cx="5949952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083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8574"/>
            <a:ext cx="8724900" cy="65429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61951" y="381000"/>
            <a:ext cx="8388161" cy="6146800"/>
          </a:xfrm>
          <a:prstGeom prst="rect">
            <a:avLst/>
          </a:prstGeom>
          <a:solidFill>
            <a:srgbClr val="EBE4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42319" y="550791"/>
            <a:ext cx="7973032" cy="6995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42925" y="1452813"/>
            <a:ext cx="7972425" cy="4767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543715"/>
          </a:solidFill>
          <a:effectLst/>
          <a:latin typeface="+mj-ea"/>
          <a:ea typeface="+mj-ea"/>
          <a:cs typeface="+mj-cs"/>
        </a:defRPr>
      </a:lvl1pPr>
    </p:titleStyle>
    <p:bodyStyle>
      <a:lvl1pPr marL="200660" indent="-200660" algn="just" defTabSz="514350" rtl="0" eaLnBrk="1" latinLnBrk="0" hangingPunct="1">
        <a:lnSpc>
          <a:spcPct val="110000"/>
        </a:lnSpc>
        <a:spcBef>
          <a:spcPts val="1015"/>
        </a:spcBef>
        <a:spcAft>
          <a:spcPts val="0"/>
        </a:spcAft>
        <a:buClr>
          <a:schemeClr val="accent1"/>
        </a:buClr>
        <a:buSzPct val="100000"/>
        <a:buFont typeface="Webdings" panose="05030102010509060703" pitchFamily="18" charset="2"/>
        <a:buChar char=""/>
        <a:defRPr sz="2400" kern="1200" baseline="0">
          <a:solidFill>
            <a:srgbClr val="8F8363"/>
          </a:solidFill>
          <a:latin typeface="+mj-ea"/>
          <a:ea typeface="+mj-ea"/>
          <a:cs typeface="+mn-cs"/>
        </a:defRPr>
      </a:lvl1pPr>
      <a:lvl2pPr marL="266700" indent="-266700" algn="just" defTabSz="514350" rtl="0" eaLnBrk="1" latinLnBrk="0" hangingPunct="1">
        <a:lnSpc>
          <a:spcPct val="150000"/>
        </a:lnSpc>
        <a:spcBef>
          <a:spcPts val="0"/>
        </a:spcBef>
        <a:spcAft>
          <a:spcPts val="34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6F5534"/>
          </a:solidFill>
          <a:latin typeface="+mn-ea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.youku.com/v_show/id_XNDY2Mjc5NDg0NA==.html?playMode=pugv&amp;frommaciku=1&#13;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21704;&#22982;&#33713;&#29305;&#29420;&#30333;&#65288;&#32993;&#27468;&#65289;.mp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.youku.com/v_show/id_XNDIxNzIxMDY4NA==.html?playMode=pugv&amp;frommaciku=1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哈姆莱特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9" name="Rectangle 3"/>
          <p:cNvSpPr>
            <a:spLocks noGrp="1" noRot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莎士比亚代表作</a:t>
            </a:r>
            <a:endParaRPr lang="zh-CN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2925" y="1351213"/>
            <a:ext cx="7972425" cy="4767019"/>
          </a:xfrm>
        </p:spPr>
        <p:txBody>
          <a:bodyPr/>
          <a:lstStyle/>
          <a:p>
            <a:endParaRPr lang="zh-CN" altLang="en-US"/>
          </a:p>
          <a:p>
            <a:pPr marL="0" indent="0">
              <a:buNone/>
            </a:pPr>
            <a:r>
              <a:rPr lang="zh-CN" altLang="en-US" sz="3200" b="1">
                <a:solidFill>
                  <a:srgbClr val="002060"/>
                </a:solidFill>
              </a:rPr>
              <a:t>  四大悲剧</a:t>
            </a:r>
            <a:endParaRPr lang="zh-CN" altLang="en-US" sz="3200" b="1">
              <a:solidFill>
                <a:srgbClr val="002060"/>
              </a:solidFill>
            </a:endParaRPr>
          </a:p>
          <a:p>
            <a:r>
              <a:rPr lang="zh-CN" altLang="en-US" sz="3200" b="1"/>
              <a:t>《哈姆莱特》《奥赛罗》</a:t>
            </a:r>
            <a:endParaRPr lang="zh-CN" altLang="en-US" sz="3200" b="1"/>
          </a:p>
          <a:p>
            <a:r>
              <a:rPr lang="zh-CN" altLang="en-US" sz="3200" b="1"/>
              <a:t>《李尔王》《麦克白》</a:t>
            </a:r>
            <a:endParaRPr lang="zh-CN" altLang="en-US" sz="3200" b="1"/>
          </a:p>
          <a:p>
            <a:pPr marL="0" indent="0">
              <a:buNone/>
            </a:pPr>
            <a:r>
              <a:rPr lang="zh-CN" altLang="en-US" sz="3200" b="1">
                <a:solidFill>
                  <a:srgbClr val="FF0000"/>
                </a:solidFill>
              </a:rPr>
              <a:t>  四大喜剧</a:t>
            </a:r>
            <a:endParaRPr lang="zh-CN" altLang="en-US" sz="3200" b="1">
              <a:solidFill>
                <a:srgbClr val="FF0000"/>
              </a:solidFill>
            </a:endParaRPr>
          </a:p>
          <a:p>
            <a:r>
              <a:rPr lang="zh-CN" altLang="en-US" sz="3200" b="1"/>
              <a:t>《威尼斯商人》《仲夏夜之梦》</a:t>
            </a:r>
            <a:endParaRPr lang="zh-CN" altLang="en-US" sz="3200" b="1"/>
          </a:p>
          <a:p>
            <a:r>
              <a:rPr lang="zh-CN" altLang="en-US" sz="3200" b="1"/>
              <a:t>《皆大欢喜》《第十二夜》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.USER-20150702MJ\Desktop\548358ca8656eb527cf9b064b8ea9a44_6113b91d3162152aae3e632098ab907e.png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552" y="1556792"/>
            <a:ext cx="7972425" cy="4486806"/>
          </a:xfrm>
          <a:prstGeom prst="rect">
            <a:avLst/>
          </a:prstGeom>
          <a:noFill/>
        </p:spPr>
      </p:pic>
      <p:sp>
        <p:nvSpPr>
          <p:cNvPr id="6" name="标题 1"/>
          <p:cNvSpPr txBox="1"/>
          <p:nvPr/>
        </p:nvSpPr>
        <p:spPr>
          <a:xfrm>
            <a:off x="542319" y="550791"/>
            <a:ext cx="7973032" cy="6995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43715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一 了解剧情</a:t>
            </a:r>
            <a:endParaRPr kumimoji="0" lang="zh-CN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543715"/>
              </a:solidFill>
              <a:effectLst/>
              <a:uLnTx/>
              <a:uFillTx/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哈姆莱特</a:t>
            </a:r>
            <a:r>
              <a:rPr lang="en-US" altLang="zh-CN" dirty="0" smtClean="0"/>
              <a:t>》</a:t>
            </a:r>
            <a:r>
              <a:rPr lang="zh-CN" altLang="en-US" dirty="0" smtClean="0"/>
              <a:t>（节选）主要人物</a:t>
            </a:r>
            <a:endParaRPr lang="zh-CN" altLang="en-US" dirty="0"/>
          </a:p>
        </p:txBody>
      </p:sp>
      <p:pic>
        <p:nvPicPr>
          <p:cNvPr id="1026" name="Picture 2" descr="C:\Users\Administrator.USER-20150702MJ\Desktop\df3ea08ead1febe32240364e3cd3837c_7de79dcc-09e8-4fba-bbd4-625d1cef7aff10.gif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0963" y="1452563"/>
            <a:ext cx="6356349" cy="47672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  </a:t>
            </a:r>
            <a:r>
              <a:rPr lang="zh-CN" altLang="en-US" dirty="0" smtClean="0"/>
              <a:t>欣赏戏剧片段，分析</a:t>
            </a:r>
            <a:r>
              <a:rPr lang="zh-CN" altLang="en-US" dirty="0" smtClean="0"/>
              <a:t>人物性格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  </a:t>
            </a:r>
            <a:r>
              <a:rPr lang="en-US" altLang="zh-CN" sz="3200" b="1" dirty="0">
                <a:hlinkClick r:id="rId1" tooltip="" action="ppaction://hlinkfile"/>
              </a:rPr>
              <a:t> </a:t>
            </a:r>
            <a:r>
              <a:rPr lang="zh-CN" altLang="en-US" sz="3200" b="1" dirty="0">
                <a:hlinkClick r:id="rId1" tooltip="" action="ppaction://hlinkfile"/>
              </a:rPr>
              <a:t>《哈姆莱特》片段</a:t>
            </a:r>
            <a:endParaRPr lang="en-US" altLang="zh-CN" sz="3200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sz="3200" b="1" dirty="0"/>
              <a:t> 1.</a:t>
            </a:r>
            <a:r>
              <a:rPr lang="zh-CN" altLang="en-US" sz="3200" b="1" dirty="0"/>
              <a:t>面对哈姆莱特装疯卖傻的言行，不同的人有怎样的反应</a:t>
            </a:r>
            <a:r>
              <a:rPr lang="zh-CN" altLang="en-US" sz="3200" b="1" dirty="0" smtClean="0"/>
              <a:t>？</a:t>
            </a:r>
            <a:endParaRPr lang="en-US" altLang="zh-CN" sz="3200" b="1" dirty="0" smtClean="0"/>
          </a:p>
          <a:p>
            <a:pPr marL="0" indent="0">
              <a:buNone/>
            </a:pPr>
            <a:endParaRPr lang="zh-CN" altLang="en-US" sz="3200" b="1" dirty="0"/>
          </a:p>
          <a:p>
            <a:pPr marL="0" indent="0">
              <a:buNone/>
            </a:pPr>
            <a:r>
              <a:rPr lang="en-US" altLang="zh-CN" sz="3200" b="1" dirty="0"/>
              <a:t> 2.</a:t>
            </a:r>
            <a:r>
              <a:rPr lang="zh-CN" altLang="en-US" sz="3200" b="1" dirty="0"/>
              <a:t>从他们的反应，可以看出他们怎样的性格特征？</a:t>
            </a:r>
            <a:endParaRPr lang="zh-CN" altLang="en-US" sz="3200" b="1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1236"/>
            <a:ext cx="7973032" cy="699595"/>
          </a:xfrm>
        </p:spPr>
        <p:txBody>
          <a:bodyPr>
            <a:normAutofit/>
          </a:bodyPr>
          <a:lstStyle/>
          <a:p>
            <a:pPr algn="ctr"/>
            <a:r>
              <a:rPr lang="zh-CN" altLang="en-US" sz="2800" dirty="0"/>
              <a:t>面对王子的“疯癫”言行，</a:t>
            </a:r>
            <a:r>
              <a:rPr lang="zh-CN" altLang="en-US" sz="2800" dirty="0">
                <a:solidFill>
                  <a:srgbClr val="C00000"/>
                </a:solidFill>
              </a:rPr>
              <a:t>奥菲利娅的反应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683568" y="1246332"/>
            <a:ext cx="7920880" cy="5207004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0" i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哈哈！你贞洁吗？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殿下！　</a:t>
            </a:r>
            <a:endParaRPr lang="en-US" altLang="zh-CN" b="0" i="0" dirty="0"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0" i="0" kern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b="0" i="0" kern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你美丽吗？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 殿下是什么意思？</a:t>
            </a:r>
            <a:b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0" i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要是你既贞洁又美丽，那么你的贞洁应该断绝跟你的美丽来往。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 殿下，难道美丽除了贞洁以外，还有什么更好的伴侣吗</a:t>
            </a:r>
            <a:r>
              <a:rPr lang="zh-CN" altLang="en-US" b="0" i="0" dirty="0" smtClean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0" i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嗯，真的；因为美丽可以使贞洁变成淫荡，贞洁却未必能使美丽受它自己的感化；这句话从前像是怪诞之谈，可是现在时间已经把它证实了。我的确曾经爱过你。</a:t>
            </a:r>
            <a:endParaRPr lang="en-US" altLang="zh-CN" b="0" i="0" dirty="0">
              <a:solidFill>
                <a:srgbClr val="333333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 真的，殿下，您曾经使我相信您爱我。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1049866" y="1244603"/>
            <a:ext cx="7482573" cy="4932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i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我们都是些十足的坏人；一个也不要相信我们。进尼姑庵去吧。你的父亲呢</a:t>
            </a:r>
            <a:r>
              <a:rPr lang="zh-CN" altLang="en-US" i="0" dirty="0" smtClean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 在家里，殿下。</a:t>
            </a:r>
            <a:endParaRPr lang="en-US" altLang="zh-CN" i="0" dirty="0">
              <a:solidFill>
                <a:srgbClr val="C00000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i="0" dirty="0">
                <a:solidFill>
                  <a:srgbClr val="7030A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把他关起来，让他只好在家里发发傻劲。再会</a:t>
            </a:r>
            <a:r>
              <a:rPr lang="zh-CN" altLang="en-US" i="0" dirty="0" smtClean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奥菲利娅 哎哟，天哪！救救他！</a:t>
            </a:r>
            <a:endParaRPr lang="en-US" altLang="zh-CN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哈姆莱特</a:t>
            </a:r>
            <a:r>
              <a:rPr lang="zh-CN" altLang="en-US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dirty="0">
                <a:solidFill>
                  <a:srgbClr val="3333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进尼姑庵去吧，去；越快越好。再会</a:t>
            </a:r>
            <a:r>
              <a:rPr lang="zh-CN" altLang="en-US" i="0" dirty="0" smtClean="0">
                <a:solidFill>
                  <a:srgbClr val="333333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  <a:b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i="0" dirty="0">
                <a:solidFill>
                  <a:srgbClr val="C0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奥菲利娅 天上的神明啊，让他清醒过来吧！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1236"/>
            <a:ext cx="7973032" cy="699595"/>
          </a:xfrm>
        </p:spPr>
        <p:txBody>
          <a:bodyPr/>
          <a:lstStyle/>
          <a:p>
            <a:pPr algn="ctr"/>
            <a:r>
              <a:rPr lang="zh-CN" altLang="en-US" sz="2800" dirty="0"/>
              <a:t>面对王子的“疯癫”言行，</a:t>
            </a:r>
            <a:r>
              <a:rPr lang="zh-CN" altLang="en-US" sz="2800" dirty="0">
                <a:solidFill>
                  <a:srgbClr val="002060"/>
                </a:solidFill>
              </a:rPr>
              <a:t>国王等人的反应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683568" y="1246332"/>
            <a:ext cx="7848872" cy="5207004"/>
          </a:xfrm>
        </p:spPr>
        <p:txBody>
          <a:bodyPr>
            <a:normAutofit/>
          </a:bodyPr>
          <a:lstStyle/>
          <a:p>
            <a:pPr marL="0" marR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kern="100" spc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国王（克劳狄斯）： </a:t>
            </a:r>
            <a:endParaRPr lang="en-US" altLang="zh-CN" b="1" i="0" kern="100" spc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恋爱！</a:t>
            </a:r>
            <a:r>
              <a:rPr lang="zh-CN" altLang="en-US" b="1" i="0" kern="100" spc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他的精神错乱不像是为了恋爱；他说的话虽然有些颠倒，也不像是疯狂。</a:t>
            </a:r>
            <a:endParaRPr lang="en-US" altLang="zh-CN" b="1" i="0" kern="100" spc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他有些什么心事盘踞在他的灵魂里，我怕它也许会产生危险的结果。</a:t>
            </a:r>
            <a:endParaRPr lang="en-US" altLang="zh-CN" i="0" kern="100" spc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kern="100" spc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为了防止万一，我已经当机立断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，决定了一个办法：他必须立刻到英国去，向他们追索延宕未纳的贡物；也许他到海外各国游历一趟以后，时时变换的环境，可以替他排解去这一桩使他神思恍惚的心事。你看怎么样？</a:t>
            </a:r>
            <a:endParaRPr lang="en-US" altLang="zh-CN" i="0" kern="100" spc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kern="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endParaRPr lang="en-US" altLang="zh-CN" kern="1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国王：就是这样吧。大人物的疯狂是不能听其自然的。</a:t>
            </a:r>
            <a:endParaRPr lang="zh-CN" altLang="en-US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i="0" kern="100" spc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1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1049866" y="1244603"/>
            <a:ext cx="7554581" cy="4932363"/>
          </a:xfrm>
        </p:spPr>
        <p:txBody>
          <a:bodyPr>
            <a:norm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i="0" kern="100" spc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波洛涅斯：</a:t>
            </a:r>
            <a:endParaRPr lang="en-US" altLang="zh-CN" b="1" i="0" kern="100" spc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那很好；可是</a:t>
            </a:r>
            <a:r>
              <a:rPr lang="zh-CN" altLang="en-US" b="1" i="0" kern="100" spc="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我相信他的烦闷的根本原因，还是为了恋爱上的失意。</a:t>
            </a:r>
            <a:endParaRPr lang="en-US" altLang="zh-CN" b="1" i="0" kern="100" spc="0" dirty="0">
              <a:solidFill>
                <a:srgbClr val="00206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啊，奥菲利娅！你不用告诉我们哈姆莱特殿下说些什么话；我们全都听见了。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陛下，照您的意思办吧；可是您要是认为可以的话，不妨在戏剧终场以后，让他的母后独自一人跟他在一起，恳求他向她吐露他的心事；她必须很坦白地跟他谈谈，我就找一个所在听他们说些什么。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要是她也探听不出他的秘密来，</a:t>
            </a:r>
            <a:r>
              <a:rPr lang="zh-CN" altLang="en-US" b="1" i="0" dirty="0">
                <a:solidFill>
                  <a:srgbClr val="002060"/>
                </a:solidFill>
                <a:effectLst/>
                <a:latin typeface="PingFang SC"/>
              </a:rPr>
              <a:t>您就叫他到英国去，或者凭着您的高见，把他关禁在一个适当的地方。</a:t>
            </a:r>
            <a:endParaRPr lang="zh-CN" altLang="en-US" b="1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人物性格分析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9592" y="1052736"/>
            <a:ext cx="3672408" cy="49323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8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2800" b="1" dirty="0" smtClean="0">
                <a:solidFill>
                  <a:srgbClr val="C00000"/>
                </a:solidFill>
              </a:rPr>
              <a:t>奥</a:t>
            </a:r>
            <a:r>
              <a:rPr lang="zh-CN" altLang="en-US" sz="2800" b="1" dirty="0">
                <a:solidFill>
                  <a:srgbClr val="C00000"/>
                </a:solidFill>
              </a:rPr>
              <a:t>菲利娅：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zh-CN" altLang="en-US" sz="2800" b="1" dirty="0"/>
              <a:t>感情纯真  </a:t>
            </a:r>
            <a:endParaRPr lang="en-US" altLang="zh-CN" sz="2800" b="1" dirty="0"/>
          </a:p>
          <a:p>
            <a:r>
              <a:rPr lang="zh-CN" altLang="en-US" sz="2800" b="1" dirty="0" smtClean="0"/>
              <a:t>心地</a:t>
            </a:r>
            <a:r>
              <a:rPr lang="zh-CN" altLang="en-US" sz="2800" b="1" dirty="0" smtClean="0"/>
              <a:t>善良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pPr>
              <a:buNone/>
            </a:pPr>
            <a:r>
              <a:rPr lang="zh-CN" altLang="en-US" sz="2800" b="1" dirty="0" smtClean="0">
                <a:solidFill>
                  <a:srgbClr val="7030A0"/>
                </a:solidFill>
              </a:rPr>
              <a:t>哈姆莱特：</a:t>
            </a:r>
            <a:endParaRPr lang="en-US" altLang="zh-CN" sz="2800" b="1" dirty="0" smtClean="0">
              <a:solidFill>
                <a:srgbClr val="7030A0"/>
              </a:solidFill>
            </a:endParaRPr>
          </a:p>
          <a:p>
            <a:r>
              <a:rPr lang="zh-CN" altLang="en-US" sz="2800" b="1" dirty="0" smtClean="0"/>
              <a:t>机</a:t>
            </a:r>
            <a:r>
              <a:rPr lang="zh-CN" altLang="en-US" sz="2800" b="1" dirty="0" smtClean="0"/>
              <a:t>智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狠心</a:t>
            </a:r>
            <a:endParaRPr lang="en-US" altLang="zh-CN" sz="2800" b="1" dirty="0" smtClean="0"/>
          </a:p>
          <a:p>
            <a:endParaRPr lang="en-US" altLang="zh-CN" sz="2800" b="1" dirty="0" smtClean="0"/>
          </a:p>
          <a:p>
            <a:pPr marL="0" indent="0" algn="l">
              <a:buNone/>
            </a:pPr>
            <a:endParaRPr lang="zh-CN" altLang="en-US" sz="2800" b="1" dirty="0" smtClean="0"/>
          </a:p>
          <a:p>
            <a:endParaRPr lang="en-US" altLang="zh-CN" sz="2800" b="1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"/>
          </p:nvPr>
        </p:nvSpPr>
        <p:spPr>
          <a:xfrm>
            <a:off x="4644008" y="1268760"/>
            <a:ext cx="3672408" cy="4932363"/>
          </a:xfrm>
        </p:spPr>
        <p:txBody>
          <a:bodyPr>
            <a:normAutofit/>
          </a:bodyPr>
          <a:lstStyle/>
          <a:p>
            <a:endParaRPr lang="en-US" altLang="zh-CN" sz="2800" dirty="0"/>
          </a:p>
          <a:p>
            <a:pPr marL="0" indent="0" algn="l">
              <a:buNone/>
            </a:pPr>
            <a:r>
              <a:rPr lang="zh-CN" altLang="en-US" sz="2800" b="1" dirty="0" smtClean="0">
                <a:solidFill>
                  <a:srgbClr val="000000"/>
                </a:solidFill>
              </a:rPr>
              <a:t>克</a:t>
            </a:r>
            <a:r>
              <a:rPr lang="zh-CN" altLang="en-US" sz="2800" b="1" dirty="0" smtClean="0">
                <a:solidFill>
                  <a:srgbClr val="000000"/>
                </a:solidFill>
              </a:rPr>
              <a:t>劳狄斯：</a:t>
            </a:r>
            <a:endParaRPr lang="en-US" altLang="zh-CN" sz="2800" b="1" dirty="0" smtClean="0">
              <a:solidFill>
                <a:srgbClr val="000000"/>
              </a:solidFill>
            </a:endParaRPr>
          </a:p>
          <a:p>
            <a:pPr algn="l"/>
            <a:r>
              <a:rPr lang="zh-CN" altLang="en-US" sz="2800" b="1" dirty="0" smtClean="0"/>
              <a:t>阴险 狠毒</a:t>
            </a:r>
            <a:endParaRPr lang="en-US" altLang="zh-CN" sz="2800" b="1" dirty="0" smtClean="0"/>
          </a:p>
          <a:p>
            <a:pPr algn="l"/>
            <a:r>
              <a:rPr lang="zh-CN" altLang="en-US" sz="2800" b="1" dirty="0" smtClean="0"/>
              <a:t>老谋深算</a:t>
            </a:r>
            <a:endParaRPr lang="zh-CN" altLang="en-US" sz="2800" b="1" dirty="0" smtClean="0"/>
          </a:p>
          <a:p>
            <a:pPr marL="0" indent="0">
              <a:buNone/>
            </a:pPr>
            <a:r>
              <a:rPr lang="zh-CN" altLang="en-US" sz="2800" b="1" dirty="0" smtClean="0">
                <a:solidFill>
                  <a:srgbClr val="002060"/>
                </a:solidFill>
              </a:rPr>
              <a:t>波洛涅斯：</a:t>
            </a:r>
            <a:endParaRPr lang="en-US" altLang="zh-CN" sz="2800" b="1" dirty="0" smtClean="0">
              <a:solidFill>
                <a:srgbClr val="002060"/>
              </a:solidFill>
            </a:endParaRPr>
          </a:p>
          <a:p>
            <a:r>
              <a:rPr lang="zh-CN" altLang="en-US" sz="2800" b="1" dirty="0" smtClean="0"/>
              <a:t>愚蠢 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助纣为虐</a:t>
            </a:r>
            <a:endParaRPr lang="zh-CN" altLang="en-US" sz="2800" b="1" dirty="0" smtClean="0"/>
          </a:p>
          <a:p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 </a:t>
            </a:r>
            <a:r>
              <a:rPr lang="zh-CN" altLang="en-US" dirty="0" smtClean="0"/>
              <a:t> 欣赏哈姆莱特独白，分析多重意蕴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endParaRPr lang="zh-CN" altLang="en-US" sz="4000" b="1" dirty="0"/>
          </a:p>
          <a:p>
            <a:endParaRPr lang="zh-CN" altLang="en-US" sz="4000" b="1" dirty="0"/>
          </a:p>
          <a:p>
            <a:r>
              <a:rPr lang="zh-CN" altLang="en-US" sz="4000" b="1" dirty="0">
                <a:hlinkClick r:id="rId1" tooltip="" action="ppaction://hlinkfile"/>
              </a:rPr>
              <a:t>哈姆莱特独白（胡歌）.mp4</a:t>
            </a:r>
            <a:endParaRPr lang="zh-CN" altLang="en-US" sz="4000" b="1" dirty="0"/>
          </a:p>
          <a:p>
            <a:endParaRPr lang="zh-CN" altLang="en-US" sz="3200" b="1" dirty="0"/>
          </a:p>
          <a:p>
            <a:pPr marL="0" indent="0">
              <a:buNone/>
            </a:pP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r>
              <a:rPr lang="zh-CN" altLang="en-US"/>
              <a:t>哈姆莱特独白欣赏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 sz="3600" b="1"/>
              <a:t>哈姆莱特独白（英文版）</a:t>
            </a:r>
            <a:r>
              <a:rPr lang="zh-CN" altLang="en-US" b="1">
                <a:hlinkClick r:id="rId1" tooltip="" action="ppaction://hlinkfile"/>
              </a:rPr>
              <a:t></a:t>
            </a:r>
            <a:r>
              <a:rPr lang="zh-CN" altLang="en-US" b="1">
                <a:hlinkClick r:id="rId1" tooltip="" action="ppaction://hlinkfile"/>
              </a:rPr>
              <a:t></a:t>
            </a:r>
            <a:r>
              <a:rPr lang="zh-CN" altLang="en-US" b="1">
                <a:hlinkClick r:id="rId1" tooltip="" action="ppaction://hlinkfile"/>
              </a:rPr>
              <a:t>https://v.youku.com/v_show/id_XNDIxNzIxMDY4NA==.html?playMode=pugv&amp;frommaciku=1</a:t>
            </a:r>
            <a:endParaRPr lang="zh-CN" altLang="en-US" b="1"/>
          </a:p>
          <a:p>
            <a:endParaRPr lang="zh-CN" altLang="en-US" b="1" dirty="0">
              <a:sym typeface="+mn-ea"/>
            </a:endParaRPr>
          </a:p>
          <a:p>
            <a:endParaRPr lang="zh-CN" altLang="en-US" b="1" dirty="0">
              <a:sym typeface="+mn-ea"/>
            </a:endParaRPr>
          </a:p>
          <a:p>
            <a:r>
              <a:rPr lang="zh-CN" altLang="en-US" sz="3600" b="1" dirty="0">
                <a:sym typeface="+mn-ea"/>
              </a:rPr>
              <a:t>思考：这段独白表达了怎样的内涵？说说你的理解。</a:t>
            </a:r>
            <a:endParaRPr lang="zh-CN" altLang="en-US" sz="3600" b="1" dirty="0"/>
          </a:p>
          <a:p>
            <a:endParaRPr lang="zh-CN" altLang="en-US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“</a:t>
            </a:r>
            <a:r>
              <a:rPr lang="zh-CN" altLang="en-US"/>
              <a:t>生存还是毁灭</a:t>
            </a:r>
            <a:r>
              <a:rPr lang="en-US" altLang="zh-CN"/>
              <a:t>”</a:t>
            </a:r>
            <a:r>
              <a:rPr lang="zh-CN" altLang="en-US"/>
              <a:t>独白的多重内涵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dirty="0"/>
              <a:t>表现了哈姆莱特的烦恼失望、苦闷彷徨，蕴含了剧作家对现实的深刻批判</a:t>
            </a:r>
            <a:endParaRPr lang="zh-CN" altLang="en-US" sz="3200" b="1" dirty="0"/>
          </a:p>
          <a:p>
            <a:pPr marL="0" indent="0">
              <a:buNone/>
            </a:pPr>
            <a:endParaRPr lang="zh-CN" altLang="en-US" sz="3200" b="1" dirty="0"/>
          </a:p>
          <a:p>
            <a:r>
              <a:rPr lang="zh-CN" altLang="en-US" sz="3200" b="1" dirty="0"/>
              <a:t>表达了作者对生与死这个永恒话题的思考</a:t>
            </a:r>
            <a:endParaRPr lang="zh-CN" altLang="en-US" sz="3200" b="1" dirty="0"/>
          </a:p>
          <a:p>
            <a:endParaRPr lang="zh-CN" altLang="en-US" sz="3200" b="1" dirty="0"/>
          </a:p>
          <a:p>
            <a:r>
              <a:rPr lang="zh-CN" altLang="en-US" sz="3200" b="1" dirty="0"/>
              <a:t>反映了每个人都可能面临的生存困境，以及做出选择的艰难</a:t>
            </a:r>
            <a:endParaRPr lang="zh-CN" altLang="en-US" sz="3200" b="1" dirty="0"/>
          </a:p>
          <a:p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363" y="404664"/>
            <a:ext cx="7973032" cy="699595"/>
          </a:xfrm>
        </p:spPr>
        <p:txBody>
          <a:bodyPr/>
          <a:lstStyle/>
          <a:p>
            <a:r>
              <a:rPr lang="zh-CN" altLang="en-US" dirty="0"/>
              <a:t>奥菲利娅眼中的丹麦王子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182" y="1268760"/>
            <a:ext cx="7972425" cy="476701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b="1" i="0" kern="100" spc="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奥菲利娅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啊，一颗</a:t>
            </a:r>
            <a:r>
              <a:rPr lang="zh-CN" altLang="en-US" b="1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多么高贵的心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是这样殒落了！</a:t>
            </a:r>
            <a:r>
              <a:rPr lang="zh-CN" altLang="en-US" b="1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朝臣的眼睛、学者的辩舌、军人的利剑、国家所瞩望的一朵娇花；时流的明镜、人伦的雅范、举世注目的中心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，这样无可挽回地殒落了！</a:t>
            </a:r>
            <a:endParaRPr lang="en-US" altLang="zh-CN" i="0" kern="100" spc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我是一切妇女中间最伤心而不幸的，我曾经从他</a:t>
            </a:r>
            <a:r>
              <a:rPr lang="zh-CN" altLang="en-US" b="1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音乐一般的盟誓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中吮吸芬芳的甘蜜，现在却眼看着他的</a:t>
            </a:r>
            <a:r>
              <a:rPr lang="zh-CN" altLang="en-US" b="1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高贵无上的理智</a:t>
            </a: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，像一串美妙的银铃失去了谐和的音调，无比的青春美貌，在疯狂中雕谢！</a:t>
            </a:r>
            <a:endParaRPr lang="en-US" altLang="zh-CN" i="0" kern="100" spc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啊！我好苦，谁料过去的繁华，变作今朝的泥土！</a:t>
            </a:r>
            <a:br>
              <a:rPr lang="zh-CN" altLang="en-US" sz="1800" i="0" kern="100" spc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lang="zh-CN" altLang="en-US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哈姆莱特形象</a:t>
            </a:r>
            <a:endParaRPr lang="zh-CN" altLang="en-US" b="1" dirty="0"/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sz="4000" b="1" dirty="0"/>
              <a:t>1.</a:t>
            </a:r>
            <a:r>
              <a:rPr lang="zh-CN" altLang="en-US" sz="4000" b="1" dirty="0"/>
              <a:t>人文主义者的先进典型</a:t>
            </a:r>
            <a:endParaRPr lang="en-US" altLang="zh-CN" sz="4000" b="1" dirty="0"/>
          </a:p>
          <a:p>
            <a:pPr marL="0" indent="0" eaLnBrk="1" hangingPunct="1">
              <a:buNone/>
            </a:pPr>
            <a:r>
              <a:rPr lang="en-US" altLang="zh-CN" sz="4000" b="1" dirty="0"/>
              <a:t>   </a:t>
            </a:r>
            <a:r>
              <a:rPr lang="zh-CN" altLang="en-US" sz="4000" b="1" dirty="0"/>
              <a:t>机智勇敢  多才多艺 抱负远大</a:t>
            </a:r>
            <a:endParaRPr lang="en-US" altLang="zh-CN" sz="4000" b="1" dirty="0"/>
          </a:p>
          <a:p>
            <a:pPr marL="0" indent="0" eaLnBrk="1" hangingPunct="1">
              <a:buNone/>
            </a:pPr>
            <a:endParaRPr lang="zh-CN" altLang="en-US" sz="4000" b="1" dirty="0"/>
          </a:p>
          <a:p>
            <a:pPr eaLnBrk="1" hangingPunct="1"/>
            <a:r>
              <a:rPr lang="en-US" altLang="zh-CN" sz="4000" b="1" dirty="0"/>
              <a:t>2.</a:t>
            </a:r>
            <a:r>
              <a:rPr lang="zh-CN" altLang="en-US" sz="4000" b="1" dirty="0"/>
              <a:t>延宕，思想上的犹豫不决和行动上的迟疑不定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四  拓展：由</a:t>
            </a:r>
            <a:r>
              <a:rPr lang="en-US" altLang="zh-CN" b="1" dirty="0"/>
              <a:t>《</a:t>
            </a:r>
            <a:r>
              <a:rPr lang="zh-CN" altLang="en-US" b="1" dirty="0"/>
              <a:t>哈姆莱特</a:t>
            </a:r>
            <a:r>
              <a:rPr lang="en-US" altLang="zh-CN" b="1" dirty="0"/>
              <a:t>》</a:t>
            </a:r>
            <a:r>
              <a:rPr lang="zh-CN" altLang="en-US" b="1" dirty="0"/>
              <a:t>想到的</a:t>
            </a:r>
            <a:endParaRPr lang="zh-CN" altLang="en-US" b="1" dirty="0"/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sz="4400" b="1" dirty="0"/>
              <a:t>反省思维与行动力</a:t>
            </a:r>
            <a:endParaRPr lang="zh-CN" altLang="en-US" sz="4400" b="1" dirty="0"/>
          </a:p>
          <a:p>
            <a:pPr eaLnBrk="1" hangingPunct="1"/>
            <a:endParaRPr lang="zh-CN" altLang="en-US" sz="4400" b="1" dirty="0"/>
          </a:p>
          <a:p>
            <a:pPr eaLnBrk="1" hangingPunct="1"/>
            <a:r>
              <a:rPr lang="zh-CN" altLang="en-US" sz="4400" b="1" dirty="0"/>
              <a:t>常人</a:t>
            </a:r>
            <a:r>
              <a:rPr lang="en-US" altLang="zh-CN" sz="4400" b="1" dirty="0"/>
              <a:t>——</a:t>
            </a:r>
            <a:r>
              <a:rPr lang="zh-CN" altLang="en-US" sz="4400" b="1" dirty="0"/>
              <a:t>强人</a:t>
            </a:r>
            <a:r>
              <a:rPr lang="en-US" altLang="zh-CN" sz="4400" b="1" dirty="0"/>
              <a:t>——</a:t>
            </a:r>
            <a:r>
              <a:rPr lang="zh-CN" altLang="en-US" sz="4400" b="1" dirty="0"/>
              <a:t>超人</a:t>
            </a:r>
            <a:endParaRPr lang="zh-CN" altLang="en-US" sz="4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zh-CN" sz="3600" b="1" dirty="0"/>
              <a:t> </a:t>
            </a:r>
            <a:r>
              <a:rPr lang="zh-CN" altLang="en-US" sz="3600" b="1" dirty="0"/>
              <a:t>康震：陕师大校友</a:t>
            </a:r>
            <a:endParaRPr lang="zh-CN" altLang="en-US" sz="3600" b="1" dirty="0"/>
          </a:p>
        </p:txBody>
      </p:sp>
      <p:pic>
        <p:nvPicPr>
          <p:cNvPr id="8195" name="内容占位符 3"/>
          <p:cNvPicPr>
            <a:picLocks noGrp="1" noChangeAspect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625" y="549275"/>
            <a:ext cx="3810000" cy="3111500"/>
          </a:xfrm>
        </p:spPr>
      </p:pic>
      <p:pic>
        <p:nvPicPr>
          <p:cNvPr id="8196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3660775"/>
            <a:ext cx="381000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文本框 5"/>
          <p:cNvSpPr txBox="1">
            <a:spLocks noChangeArrowheads="1"/>
          </p:cNvSpPr>
          <p:nvPr/>
        </p:nvSpPr>
        <p:spPr bwMode="auto">
          <a:xfrm>
            <a:off x="542290" y="4305935"/>
            <a:ext cx="355409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方正粗宋简体" pitchFamily="65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苦练十八般武艺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勇攀事业新高峰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4000" b="1" dirty="0"/>
              <a:t>结 语</a:t>
            </a:r>
            <a:endParaRPr lang="zh-CN" altLang="en-US" sz="40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2925" y="836713"/>
            <a:ext cx="7972425" cy="509737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endParaRPr lang="zh-CN" altLang="en-US" b="1" dirty="0"/>
          </a:p>
          <a:p>
            <a:pPr marL="0" indent="0" eaLnBrk="1" hangingPunct="1">
              <a:buNone/>
              <a:defRPr/>
            </a:pPr>
            <a:r>
              <a:rPr lang="zh-CN" altLang="en-US" b="1" dirty="0"/>
              <a:t>            </a:t>
            </a:r>
            <a:endParaRPr lang="en-US" altLang="zh-CN" b="1" dirty="0"/>
          </a:p>
          <a:p>
            <a:pPr marL="0" indent="0" eaLnBrk="1" hangingPunct="1">
              <a:buNone/>
              <a:defRPr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学好专业 </a:t>
            </a:r>
            <a:endParaRPr lang="en-US" altLang="zh-C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 eaLnBrk="1" hangingPunct="1">
              <a:buNone/>
              <a:defRPr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        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博专融合</a:t>
            </a:r>
            <a:endParaRPr lang="en-US" altLang="zh-C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altLang="zh-CN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                     </a:t>
            </a: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知行合一 </a:t>
            </a:r>
            <a:endParaRPr lang="en-US" altLang="zh-C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 algn="ctr" eaLnBrk="1" hangingPunct="1">
              <a:buNone/>
              <a:defRPr/>
            </a:pPr>
            <a:r>
              <a:rPr lang="zh-CN" alt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         全面发展</a:t>
            </a:r>
            <a:endParaRPr lang="en-US" altLang="zh-CN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eaLnBrk="1" hangingPunct="1">
              <a:defRPr/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TQ4ODQwNThiYTg4YTBlNDhkZDRmNGNiNWM5NWE1YzAifQ=="/>
</p:tagLst>
</file>

<file path=ppt/theme/theme1.xml><?xml version="1.0" encoding="utf-8"?>
<a:theme xmlns:a="http://schemas.openxmlformats.org/drawingml/2006/main" name="A000120140530A99PPBG">
  <a:themeElements>
    <a:clrScheme name="自定义 689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6F654D"/>
      </a:accent1>
      <a:accent2>
        <a:srgbClr val="8A684E"/>
      </a:accent2>
      <a:accent3>
        <a:srgbClr val="B89746"/>
      </a:accent3>
      <a:accent4>
        <a:srgbClr val="A2A945"/>
      </a:accent4>
      <a:accent5>
        <a:srgbClr val="747718"/>
      </a:accent5>
      <a:accent6>
        <a:srgbClr val="C00000"/>
      </a:accent6>
      <a:hlink>
        <a:srgbClr val="00B0F0"/>
      </a:hlink>
      <a:folHlink>
        <a:srgbClr val="AFB2B4"/>
      </a:folHlink>
    </a:clrScheme>
    <a:fontScheme name="自定义 2">
      <a:majorFont>
        <a:latin typeface="Baskerville Old Face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A000120150822A02PPBG</Template>
  <TotalTime>0</TotalTime>
  <Words>1674</Words>
  <Application>WPS 演示</Application>
  <PresentationFormat>全屏显示(4:3)</PresentationFormat>
  <Paragraphs>136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Webdings</vt:lpstr>
      <vt:lpstr>幼圆</vt:lpstr>
      <vt:lpstr>黑体</vt:lpstr>
      <vt:lpstr>Times New Roman</vt:lpstr>
      <vt:lpstr>Calibri</vt:lpstr>
      <vt:lpstr>PingFang SC</vt:lpstr>
      <vt:lpstr>Segoe Print</vt:lpstr>
      <vt:lpstr>方正粗宋简体</vt:lpstr>
      <vt:lpstr>Arial Unicode MS</vt:lpstr>
      <vt:lpstr>Baskerville Old Face</vt:lpstr>
      <vt:lpstr>A000120140530A99PPBG</vt:lpstr>
      <vt:lpstr>哈姆莱特</vt:lpstr>
      <vt:lpstr>莎士比亚代表作</vt:lpstr>
      <vt:lpstr>PowerPoint 演示文稿</vt:lpstr>
      <vt:lpstr>《哈姆莱特》（节选）主要人物</vt:lpstr>
      <vt:lpstr>二  分角色朗读，把握人物性格</vt:lpstr>
      <vt:lpstr>面对王子的“疯癫”言行，奥菲利娅的反应</vt:lpstr>
      <vt:lpstr>PowerPoint 演示文稿</vt:lpstr>
      <vt:lpstr>面对王子的“疯癫”言行，国王等人的反应</vt:lpstr>
      <vt:lpstr>PowerPoint 演示文稿</vt:lpstr>
      <vt:lpstr>人物性格分析</vt:lpstr>
      <vt:lpstr>三  欣赏独白和对白，分析人物性格</vt:lpstr>
      <vt:lpstr>PowerPoint 演示文稿</vt:lpstr>
      <vt:lpstr>“生存还是毁灭”独白的多重内涵</vt:lpstr>
      <vt:lpstr>奥菲利娅眼中的丹麦王子</vt:lpstr>
      <vt:lpstr>哈姆莱特形象</vt:lpstr>
      <vt:lpstr>四  拓展：由《哈姆莱特》想到的</vt:lpstr>
      <vt:lpstr> 康震：陕师大校友</vt:lpstr>
      <vt:lpstr>结 语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伤  逝</dc:title>
  <dc:creator>think</dc:creator>
  <cp:lastModifiedBy>丝路放歌</cp:lastModifiedBy>
  <cp:revision>47</cp:revision>
  <dcterms:created xsi:type="dcterms:W3CDTF">2015-12-20T01:32:00Z</dcterms:created>
  <dcterms:modified xsi:type="dcterms:W3CDTF">2024-06-06T08:56:48Z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A629EDE387C24B03BD528534FDB8F301_12</vt:lpwstr>
  </property>
</Properties>
</file>