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80" r:id="rId3"/>
    <p:sldId id="271" r:id="rId4"/>
    <p:sldId id="272" r:id="rId5"/>
    <p:sldId id="273" r:id="rId6"/>
    <p:sldId id="274" r:id="rId7"/>
    <p:sldId id="281" r:id="rId8"/>
    <p:sldId id="282" r:id="rId9"/>
    <p:sldId id="366" r:id="rId10"/>
    <p:sldId id="261" r:id="rId11"/>
    <p:sldId id="262" r:id="rId12"/>
    <p:sldId id="339" r:id="rId13"/>
    <p:sldId id="264" r:id="rId14"/>
    <p:sldId id="263" r:id="rId15"/>
    <p:sldId id="340" r:id="rId16"/>
    <p:sldId id="265" r:id="rId17"/>
    <p:sldId id="355" r:id="rId18"/>
    <p:sldId id="332" r:id="rId19"/>
    <p:sldId id="354" r:id="rId21"/>
    <p:sldId id="267" r:id="rId22"/>
    <p:sldId id="335" r:id="rId23"/>
    <p:sldId id="380" r:id="rId24"/>
    <p:sldId id="266" r:id="rId25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8"/>
      </p:cViewPr>
      <p:guideLst>
        <p:guide orient="horz" pos="215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5034" t="364" r="25266" b="109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674837" y="862643"/>
            <a:ext cx="548861" cy="5407447"/>
          </a:xfrm>
          <a:noFill/>
        </p:spPr>
        <p:txBody>
          <a:bodyPr vert="eaVert" anchor="b" anchorCtr="0">
            <a:noAutofit/>
          </a:bodyPr>
          <a:lstStyle>
            <a:lvl1pPr marL="0" indent="0" algn="r">
              <a:buNone/>
              <a:defRPr sz="1800">
                <a:solidFill>
                  <a:srgbClr val="C00000"/>
                </a:solidFill>
                <a:effectLst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 smtClean="0"/>
              <a:t>单击此处添加您的副标题</a:t>
            </a:r>
            <a:endParaRPr lang="zh-CN" altLang="en-US" dirty="0" smtClean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647005" y="862644"/>
            <a:ext cx="1027832" cy="5407447"/>
          </a:xfrm>
        </p:spPr>
        <p:txBody>
          <a:bodyPr vert="eaVert">
            <a:noAutofit/>
          </a:bodyPr>
          <a:lstStyle>
            <a:lvl1pPr algn="l">
              <a:defRPr sz="36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dirty="0" smtClean="0"/>
              <a:t>单击此处</a:t>
            </a:r>
            <a:br>
              <a:rPr lang="en-US" altLang="zh-CN" dirty="0" smtClean="0"/>
            </a:br>
            <a:r>
              <a:rPr lang="zh-CN" altLang="en-US" dirty="0" smtClean="0"/>
              <a:t>添加您的标题文字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19640" y="243576"/>
            <a:ext cx="320714" cy="4995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420375" y="205307"/>
            <a:ext cx="632516" cy="100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17338" y="592826"/>
            <a:ext cx="594691" cy="572039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 flipH="1">
            <a:off x="1258228" y="644027"/>
            <a:ext cx="320714" cy="4995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758962" y="605758"/>
            <a:ext cx="632516" cy="100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038374" y="984526"/>
            <a:ext cx="751751" cy="4987932"/>
          </a:xfrm>
        </p:spPr>
        <p:txBody>
          <a:bodyPr anchor="t" anchorCtr="0">
            <a:normAutofit/>
          </a:bodyPr>
          <a:lstStyle>
            <a:lvl1pPr algn="l">
              <a:defRPr sz="3000" b="1">
                <a:solidFill>
                  <a:schemeClr val="tx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1783786" y="2841906"/>
            <a:ext cx="397439" cy="3130553"/>
          </a:xfrm>
          <a:prstGeom prst="rect">
            <a:avLst/>
          </a:prstGeom>
          <a:noFill/>
        </p:spPr>
        <p:txBody>
          <a:bodyPr vert="eaVert" anchor="b" anchorCtr="0">
            <a:normAutofit/>
          </a:bodyPr>
          <a:lstStyle>
            <a:lvl1pPr marL="0" indent="0" algn="l">
              <a:buNone/>
              <a:defRPr sz="1350">
                <a:solidFill>
                  <a:srgbClr val="C00000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1244603"/>
            <a:ext cx="3810000" cy="49323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1244603"/>
            <a:ext cx="3820587" cy="49323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 flipH="1">
            <a:off x="263769" y="1026942"/>
            <a:ext cx="429837" cy="509366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7" y="13763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015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7" y="22002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7" y="13763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015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7" y="22002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3" y="533403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1063631"/>
            <a:ext cx="4629150" cy="4873625"/>
          </a:xfrm>
        </p:spPr>
        <p:txBody>
          <a:bodyPr>
            <a:normAutofit/>
          </a:bodyPr>
          <a:lstStyle>
            <a:lvl1pPr>
              <a:defRPr sz="1125"/>
            </a:lvl1pPr>
            <a:lvl2pPr>
              <a:defRPr sz="1015"/>
            </a:lvl2pPr>
            <a:lvl3pPr>
              <a:defRPr sz="900"/>
            </a:lvl3pPr>
            <a:lvl4pPr>
              <a:defRPr sz="790"/>
            </a:lvl4pPr>
            <a:lvl5pPr>
              <a:defRPr sz="79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3" y="2133603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987430"/>
            <a:ext cx="462915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2057401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8" y="365128"/>
            <a:ext cx="886883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192696" y="365128"/>
            <a:ext cx="6342638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2" cstate="email"/>
          <a:srcRect l="387" t="3045" r="6949" b="429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56158" y="566946"/>
            <a:ext cx="594691" cy="5720397"/>
          </a:xfrm>
          <a:prstGeom prst="rect">
            <a:avLst/>
          </a:prstGeom>
        </p:spPr>
        <p:txBody>
          <a:bodyPr vert="eaVert" lIns="91440" tIns="45720" rIns="91440" bIns="45720" rtlCol="0" anchor="t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1386508" y="749843"/>
            <a:ext cx="7278169" cy="5326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686728" y="250327"/>
            <a:ext cx="320714" cy="4995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87462" y="212058"/>
            <a:ext cx="632516" cy="100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/>
          </a:solidFill>
          <a:effectLst/>
          <a:latin typeface="+mj-ea"/>
          <a:ea typeface="+mj-ea"/>
          <a:cs typeface="+mj-cs"/>
        </a:defRPr>
      </a:lvl1pPr>
    </p:titleStyle>
    <p:bodyStyle>
      <a:lvl1pPr marL="200660" indent="-200660" algn="just" defTabSz="514350" rtl="0" eaLnBrk="1" latinLnBrk="0" hangingPunct="1">
        <a:lnSpc>
          <a:spcPct val="110000"/>
        </a:lnSpc>
        <a:spcBef>
          <a:spcPts val="1015"/>
        </a:spcBef>
        <a:spcAft>
          <a:spcPts val="0"/>
        </a:spcAft>
        <a:buClr>
          <a:schemeClr val="accent1"/>
        </a:buClr>
        <a:buSzPct val="50000"/>
        <a:buFont typeface="Wingdings 2" panose="05020102010507070707" pitchFamily="18" charset="2"/>
        <a:buChar char="f"/>
        <a:defRPr sz="2800" kern="1200" baseline="0">
          <a:solidFill>
            <a:schemeClr val="accent1"/>
          </a:solidFill>
          <a:latin typeface="+mj-ea"/>
          <a:ea typeface="+mj-ea"/>
          <a:cs typeface="+mn-cs"/>
        </a:defRPr>
      </a:lvl1pPr>
      <a:lvl2pPr marL="361950" indent="-361950" algn="just" defTabSz="514350" rtl="0" eaLnBrk="1" latinLnBrk="0" hangingPunct="1">
        <a:lnSpc>
          <a:spcPct val="130000"/>
        </a:lnSpc>
        <a:spcBef>
          <a:spcPts val="0"/>
        </a:spcBef>
        <a:spcAft>
          <a:spcPts val="34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29579;&#20234;&#12298;&#22768;&#22768;&#24930;&#12299;.avi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v.youku.com/v_show/id_XNTk0NjcxOTg2MA==.html?s=acbf102eb96b4f7b9bcf&amp;spm=a2hje.13141534.1_3.d_28_10&amp;scm=20140719.apircmd.239143.video_XNTk0NjcxOTg2MA==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27100" y="260350"/>
            <a:ext cx="1325880" cy="5407660"/>
          </a:xfrm>
        </p:spPr>
        <p:txBody>
          <a:bodyPr/>
          <a:lstStyle/>
          <a:p>
            <a:r>
              <a:rPr lang="zh-CN" altLang="en-US" sz="4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zh-CN" altLang="en-US" sz="6000" dirty="0" smtClean="0">
              <a:solidFill>
                <a:srgbClr val="7030A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979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971257" y="908998"/>
            <a:ext cx="548861" cy="540744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779520" y="332105"/>
            <a:ext cx="3048000" cy="2251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5400" dirty="0" smtClean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宋  词</a:t>
            </a:r>
            <a:endParaRPr lang="zh-CN" altLang="en-US" sz="5400" dirty="0" smtClean="0">
              <a:solidFill>
                <a:srgbClr val="7030A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5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286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857232"/>
            <a:ext cx="8540750" cy="5165743"/>
          </a:xfrm>
        </p:spPr>
        <p:txBody>
          <a:bodyPr>
            <a:normAutofit/>
          </a:bodyPr>
          <a:lstStyle/>
          <a:p>
            <a:r>
              <a:rPr lang="zh-CN" altLang="en-US" sz="3200" b="1" dirty="0" smtClean="0">
                <a:solidFill>
                  <a:srgbClr val="002060"/>
                </a:solidFill>
              </a:rPr>
              <a:t>宋词</a:t>
            </a:r>
            <a:r>
              <a:rPr lang="zh-CN" altLang="en-US" sz="3200" b="1" dirty="0">
                <a:solidFill>
                  <a:srgbClr val="002060"/>
                </a:solidFill>
              </a:rPr>
              <a:t>的背景</a:t>
            </a:r>
            <a:endParaRPr lang="zh-CN" altLang="en-US" sz="3200" b="1" dirty="0">
              <a:solidFill>
                <a:srgbClr val="002060"/>
              </a:solidFill>
            </a:endParaRPr>
          </a:p>
          <a:p>
            <a:endParaRPr lang="zh-CN" altLang="en-US" sz="3200" b="1" dirty="0"/>
          </a:p>
          <a:p>
            <a:r>
              <a:rPr lang="zh-CN" altLang="en-US" sz="3200" b="1" dirty="0"/>
              <a:t>高度繁荣的文化 </a:t>
            </a:r>
            <a:endParaRPr lang="zh-CN" altLang="en-US" sz="3200" b="1" dirty="0"/>
          </a:p>
          <a:p>
            <a:r>
              <a:rPr lang="zh-CN" altLang="en-US" sz="3200" b="1" dirty="0"/>
              <a:t>城市的繁荣</a:t>
            </a:r>
            <a:endParaRPr lang="zh-CN" altLang="en-US" sz="3200" b="1" dirty="0"/>
          </a:p>
          <a:p>
            <a:r>
              <a:rPr lang="zh-CN" altLang="en-US" sz="3200" b="1" dirty="0"/>
              <a:t>忧患意识与爱国主题的弘扬 </a:t>
            </a:r>
            <a:endParaRPr lang="zh-CN" altLang="en-US" sz="3200" b="1" dirty="0"/>
          </a:p>
          <a:p>
            <a:r>
              <a:rPr lang="zh-CN" altLang="en-US" sz="3200" b="1" dirty="0"/>
              <a:t>宋代作家的性格特征和审美情趣（社会责任感与个性自由的整合）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38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57158" y="428604"/>
            <a:ext cx="8540750" cy="549116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CN" altLang="en-US" sz="3200" b="1" dirty="0" smtClean="0">
                <a:solidFill>
                  <a:srgbClr val="002060"/>
                </a:solidFill>
              </a:rPr>
              <a:t>一、北宋</a:t>
            </a:r>
            <a:r>
              <a:rPr lang="zh-CN" altLang="en-US" sz="3200" b="1" dirty="0">
                <a:solidFill>
                  <a:srgbClr val="002060"/>
                </a:solidFill>
              </a:rPr>
              <a:t>前期词坛</a:t>
            </a:r>
            <a:endParaRPr lang="zh-CN" altLang="en-US" sz="3200" b="1" dirty="0">
              <a:solidFill>
                <a:srgbClr val="002060"/>
              </a:solidFill>
            </a:endParaRPr>
          </a:p>
          <a:p>
            <a:r>
              <a:rPr lang="zh-CN" altLang="en-US" sz="2800" b="1" dirty="0"/>
              <a:t>（一）晏殊与欧阳修</a:t>
            </a:r>
            <a:endParaRPr lang="zh-CN" altLang="en-US" sz="2800" b="1" dirty="0"/>
          </a:p>
          <a:p>
            <a:r>
              <a:rPr lang="en-US" altLang="zh-CN" sz="2800" b="1" dirty="0"/>
              <a:t>1.</a:t>
            </a:r>
            <a:r>
              <a:rPr lang="zh-CN" altLang="en-US" sz="2800" b="1" dirty="0"/>
              <a:t>晏殊</a:t>
            </a:r>
            <a:endParaRPr lang="zh-CN" altLang="en-US" sz="2800" b="1" dirty="0"/>
          </a:p>
          <a:p>
            <a:r>
              <a:rPr lang="zh-CN" altLang="en-US" sz="2800" b="1" dirty="0"/>
              <a:t>晏殊 </a:t>
            </a:r>
            <a:r>
              <a:rPr lang="en-US" altLang="zh-CN" sz="2800" b="1" dirty="0"/>
              <a:t>《</a:t>
            </a:r>
            <a:r>
              <a:rPr lang="zh-CN" altLang="en-US" sz="2800" b="1" dirty="0"/>
              <a:t>珠玉词</a:t>
            </a:r>
            <a:r>
              <a:rPr lang="en-US" altLang="zh-CN" sz="2800" b="1" dirty="0"/>
              <a:t>》 </a:t>
            </a:r>
            <a:r>
              <a:rPr lang="zh-CN" altLang="en-US" sz="2800" b="1" dirty="0"/>
              <a:t>抒写男女之间的相思爱恋和离愁别恨</a:t>
            </a:r>
            <a:endParaRPr lang="en-US" altLang="zh-CN" sz="2800" b="1" dirty="0"/>
          </a:p>
          <a:p>
            <a:r>
              <a:rPr lang="zh-CN" altLang="en-US" sz="2800" b="1" dirty="0">
                <a:solidFill>
                  <a:srgbClr val="002060"/>
                </a:solidFill>
              </a:rPr>
              <a:t>纯净雅致</a:t>
            </a:r>
            <a:r>
              <a:rPr lang="zh-CN" altLang="en-US" sz="2800" b="1" dirty="0"/>
              <a:t>  其子晏几道亦擅长写词。 </a:t>
            </a:r>
            <a:endParaRPr lang="en-US" altLang="zh-CN" sz="2800" b="1" dirty="0"/>
          </a:p>
          <a:p>
            <a:r>
              <a:rPr lang="en-US" altLang="zh-CN" sz="2800" b="1" dirty="0"/>
              <a:t>2.</a:t>
            </a:r>
            <a:r>
              <a:rPr lang="zh-CN" altLang="en-US" sz="2800" b="1" dirty="0"/>
              <a:t>欧阳修</a:t>
            </a:r>
            <a:endParaRPr lang="zh-CN" altLang="en-US" sz="2800" b="1" dirty="0"/>
          </a:p>
          <a:p>
            <a:r>
              <a:rPr lang="zh-CN" altLang="en-US" sz="2800" b="1" dirty="0"/>
              <a:t>诗文与词完全是两种风格。“</a:t>
            </a:r>
            <a:r>
              <a:rPr lang="zh-CN" altLang="en-US" sz="2800" b="1" dirty="0">
                <a:solidFill>
                  <a:srgbClr val="002060"/>
                </a:solidFill>
              </a:rPr>
              <a:t>以其馀力游戏</a:t>
            </a:r>
            <a:r>
              <a:rPr lang="zh-CN" altLang="en-US" sz="2800" b="1" dirty="0"/>
              <a:t>”</a:t>
            </a:r>
            <a:endParaRPr lang="zh-CN" altLang="en-US" sz="2800" b="1" dirty="0"/>
          </a:p>
          <a:p>
            <a:r>
              <a:rPr lang="zh-CN" altLang="en-US" sz="2800" b="1" dirty="0"/>
              <a:t>扩大了词的抒情功能；朝着通俗化的方向开拓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49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714356"/>
            <a:ext cx="8540750" cy="530861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500" b="1" dirty="0"/>
              <a:t>（二）柳永</a:t>
            </a:r>
            <a:endParaRPr lang="zh-CN" altLang="en-US" sz="3500" b="1" dirty="0"/>
          </a:p>
          <a:p>
            <a:r>
              <a:rPr lang="zh-CN" altLang="en-US" sz="3500" b="1" dirty="0">
                <a:solidFill>
                  <a:srgbClr val="002060"/>
                </a:solidFill>
              </a:rPr>
              <a:t>慢词</a:t>
            </a:r>
            <a:r>
              <a:rPr lang="zh-CN" altLang="en-US" sz="3500" b="1" dirty="0"/>
              <a:t>的发展和词调的丰富  </a:t>
            </a:r>
            <a:endParaRPr lang="zh-CN" altLang="en-US" sz="3500" b="1" dirty="0"/>
          </a:p>
          <a:p>
            <a:r>
              <a:rPr lang="zh-CN" altLang="en-US" sz="3500" b="1" dirty="0"/>
              <a:t>市民情调的表现和</a:t>
            </a:r>
            <a:r>
              <a:rPr lang="zh-CN" altLang="en-US" sz="3500" b="1" dirty="0">
                <a:solidFill>
                  <a:srgbClr val="002060"/>
                </a:solidFill>
              </a:rPr>
              <a:t>俚俗语言</a:t>
            </a:r>
            <a:r>
              <a:rPr lang="zh-CN" altLang="en-US" sz="3500" b="1" dirty="0"/>
              <a:t>的运用</a:t>
            </a:r>
            <a:endParaRPr lang="zh-CN" altLang="en-US" sz="3500" b="1" dirty="0"/>
          </a:p>
          <a:p>
            <a:r>
              <a:rPr lang="zh-CN" altLang="en-US" sz="3500" b="1" dirty="0">
                <a:solidFill>
                  <a:srgbClr val="002060"/>
                </a:solidFill>
              </a:rPr>
              <a:t>铺叙与白描 </a:t>
            </a:r>
            <a:endParaRPr lang="zh-CN" altLang="en-US" sz="3500" b="1" dirty="0">
              <a:solidFill>
                <a:srgbClr val="002060"/>
              </a:solidFill>
            </a:endParaRPr>
          </a:p>
          <a:p>
            <a:r>
              <a:rPr lang="zh-CN" altLang="en-US" sz="3500" b="1" dirty="0"/>
              <a:t>羁旅行役之感与抒情的自我化 </a:t>
            </a:r>
            <a:endParaRPr lang="zh-CN" altLang="en-US" sz="3500" b="1" dirty="0"/>
          </a:p>
          <a:p>
            <a:r>
              <a:rPr lang="zh-CN" altLang="en-US" sz="3500" b="1" dirty="0"/>
              <a:t>代表作</a:t>
            </a:r>
            <a:r>
              <a:rPr lang="en-US" altLang="zh-CN" sz="3500" b="1" dirty="0"/>
              <a:t>《</a:t>
            </a:r>
            <a:r>
              <a:rPr lang="zh-CN" altLang="en-US" sz="3500" b="1" dirty="0"/>
              <a:t>雨霖铃</a:t>
            </a:r>
            <a:r>
              <a:rPr lang="en-US" altLang="zh-CN" sz="3500" b="1" dirty="0"/>
              <a:t>》</a:t>
            </a:r>
            <a:r>
              <a:rPr lang="zh-CN" altLang="en-US" sz="3500" b="1" dirty="0"/>
              <a:t>（寒蝉凄切）、</a:t>
            </a:r>
            <a:r>
              <a:rPr lang="en-US" altLang="zh-CN" sz="3500" b="1" dirty="0"/>
              <a:t>《</a:t>
            </a:r>
            <a:r>
              <a:rPr lang="zh-CN" altLang="en-US" sz="3500" b="1" dirty="0"/>
              <a:t>八声甘州</a:t>
            </a:r>
            <a:r>
              <a:rPr lang="en-US" altLang="zh-CN" sz="3500" b="1" dirty="0"/>
              <a:t>》《</a:t>
            </a:r>
            <a:r>
              <a:rPr lang="zh-CN" altLang="en-US" sz="3500" b="1" dirty="0"/>
              <a:t>对潇潇暮雨洒江天）、</a:t>
            </a:r>
            <a:r>
              <a:rPr lang="en-US" altLang="zh-CN" sz="3500" b="1" dirty="0"/>
              <a:t>《</a:t>
            </a:r>
            <a:r>
              <a:rPr lang="zh-CN" altLang="en-US" sz="3500" b="1" dirty="0"/>
              <a:t>望海潮</a:t>
            </a:r>
            <a:r>
              <a:rPr lang="en-US" altLang="zh-CN" sz="3500" b="1" dirty="0"/>
              <a:t>》</a:t>
            </a:r>
            <a:r>
              <a:rPr lang="zh-CN" altLang="en-US" sz="3500" b="1" dirty="0"/>
              <a:t>（东南形胜）等。    </a:t>
            </a:r>
            <a:endParaRPr lang="zh-CN" altLang="en-US" sz="3500" b="1" dirty="0"/>
          </a:p>
          <a:p>
            <a:r>
              <a:rPr lang="zh-CN" altLang="en-US" sz="2800" b="1" dirty="0"/>
              <a:t>                                                 </a:t>
            </a:r>
            <a:endParaRPr lang="en-US" altLang="zh-CN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59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785794"/>
            <a:ext cx="8540750" cy="523718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（三）苏轼</a:t>
            </a:r>
            <a:endParaRPr lang="zh-CN" altLang="en-US" sz="3200" b="1" dirty="0"/>
          </a:p>
          <a:p>
            <a:r>
              <a:rPr lang="zh-CN" altLang="en-US" sz="3200" b="1" dirty="0"/>
              <a:t>儒、道、禅的</a:t>
            </a:r>
            <a:r>
              <a:rPr lang="zh-CN" altLang="en-US" sz="3200" b="1" dirty="0" smtClean="0"/>
              <a:t>融合；</a:t>
            </a:r>
            <a:r>
              <a:rPr lang="zh-CN" altLang="en-US" sz="3200" b="1" dirty="0" smtClean="0">
                <a:solidFill>
                  <a:srgbClr val="002060"/>
                </a:solidFill>
              </a:rPr>
              <a:t>乐观</a:t>
            </a:r>
            <a:r>
              <a:rPr lang="zh-CN" altLang="en-US" sz="3200" b="1" dirty="0">
                <a:solidFill>
                  <a:srgbClr val="002060"/>
                </a:solidFill>
              </a:rPr>
              <a:t>旷达</a:t>
            </a:r>
            <a:r>
              <a:rPr lang="zh-CN" altLang="en-US" sz="3200" b="1" dirty="0"/>
              <a:t>的人生</a:t>
            </a:r>
            <a:r>
              <a:rPr lang="zh-CN" altLang="en-US" sz="3200" b="1" dirty="0" smtClean="0"/>
              <a:t>态度；黄州</a:t>
            </a:r>
            <a:r>
              <a:rPr lang="zh-CN" altLang="en-US" sz="3200" b="1" dirty="0"/>
              <a:t>、惠州、儋州：</a:t>
            </a:r>
            <a:r>
              <a:rPr lang="zh-CN" altLang="en-US" sz="3200" b="1" dirty="0">
                <a:solidFill>
                  <a:srgbClr val="002060"/>
                </a:solidFill>
              </a:rPr>
              <a:t>逆境</a:t>
            </a:r>
            <a:r>
              <a:rPr lang="zh-CN" altLang="en-US" sz="3200" b="1" dirty="0"/>
              <a:t>中的创作</a:t>
            </a:r>
            <a:r>
              <a:rPr lang="zh-CN" altLang="en-US" sz="3200" b="1" dirty="0">
                <a:solidFill>
                  <a:srgbClr val="002060"/>
                </a:solidFill>
              </a:rPr>
              <a:t>高峰</a:t>
            </a:r>
            <a:endParaRPr lang="zh-CN" altLang="en-US" sz="3200" b="1" dirty="0">
              <a:solidFill>
                <a:srgbClr val="002060"/>
              </a:solidFill>
            </a:endParaRPr>
          </a:p>
          <a:p>
            <a:r>
              <a:rPr lang="zh-CN" altLang="en-US" sz="3200" b="1" dirty="0"/>
              <a:t>诗词一体的词学观 </a:t>
            </a:r>
            <a:endParaRPr lang="zh-CN" altLang="en-US" sz="3200" b="1" dirty="0"/>
          </a:p>
          <a:p>
            <a:r>
              <a:rPr lang="zh-CN" altLang="en-US" sz="3200" b="1" dirty="0"/>
              <a:t>扩大功能与开拓词境 </a:t>
            </a:r>
            <a:endParaRPr lang="zh-CN" altLang="en-US" sz="3200" b="1" dirty="0"/>
          </a:p>
          <a:p>
            <a:r>
              <a:rPr lang="zh-CN" altLang="en-US" sz="3200" b="1" dirty="0"/>
              <a:t>以诗为词的手法 </a:t>
            </a:r>
            <a:endParaRPr lang="zh-CN" altLang="en-US" sz="3200" b="1" dirty="0"/>
          </a:p>
          <a:p>
            <a:r>
              <a:rPr lang="zh-CN" altLang="en-US" sz="3200" b="1" dirty="0"/>
              <a:t>豪迈奔放的</a:t>
            </a:r>
            <a:r>
              <a:rPr lang="zh-CN" altLang="en-US" sz="3200" b="1" dirty="0" smtClean="0"/>
              <a:t>风格   </a:t>
            </a:r>
            <a:endParaRPr lang="en-US" altLang="zh-CN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12029" y="188640"/>
            <a:ext cx="7278169" cy="532646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200" b="1" dirty="0" smtClean="0">
                <a:solidFill>
                  <a:srgbClr val="002060"/>
                </a:solidFill>
              </a:rPr>
              <a:t>二、北宋</a:t>
            </a:r>
            <a:r>
              <a:rPr lang="zh-CN" altLang="en-US" sz="3200" b="1" dirty="0">
                <a:solidFill>
                  <a:srgbClr val="002060"/>
                </a:solidFill>
              </a:rPr>
              <a:t>中后期</a:t>
            </a:r>
            <a:r>
              <a:rPr lang="zh-CN" altLang="en-US" sz="3200" b="1" dirty="0" smtClean="0">
                <a:solidFill>
                  <a:srgbClr val="002060"/>
                </a:solidFill>
              </a:rPr>
              <a:t>词坛</a:t>
            </a:r>
            <a:endParaRPr lang="en-US" altLang="zh-CN" sz="3200" b="1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endParaRPr lang="en-US" altLang="zh-CN" sz="3200" b="1" dirty="0" smtClean="0">
              <a:solidFill>
                <a:srgbClr val="002060"/>
              </a:solidFill>
            </a:endParaRPr>
          </a:p>
          <a:p>
            <a:pPr eaLnBrk="1" hangingPunct="1"/>
            <a:r>
              <a:rPr lang="zh-CN" altLang="en-US" b="1" dirty="0" smtClean="0"/>
              <a:t>两大创作群体</a:t>
            </a:r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以</a:t>
            </a:r>
            <a:r>
              <a:rPr lang="zh-CN" altLang="en-US" b="1" dirty="0" smtClean="0">
                <a:solidFill>
                  <a:srgbClr val="002060"/>
                </a:solidFill>
              </a:rPr>
              <a:t>苏轼</a:t>
            </a:r>
            <a:r>
              <a:rPr lang="zh-CN" altLang="en-US" b="1" dirty="0" smtClean="0"/>
              <a:t>为领袖</a:t>
            </a:r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苏门四学士：黄庭坚、张耒、晁补之、秦观</a:t>
            </a:r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苏门六君子：四学士再加上陈师道、李廌(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zhì</a:t>
            </a:r>
            <a:r>
              <a:rPr lang="zh-CN" altLang="en-US" b="1" dirty="0" smtClean="0"/>
              <a:t>)</a:t>
            </a:r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以</a:t>
            </a:r>
            <a:r>
              <a:rPr lang="zh-CN" altLang="en-US" b="1" dirty="0" smtClean="0">
                <a:solidFill>
                  <a:srgbClr val="002060"/>
                </a:solidFill>
              </a:rPr>
              <a:t>周邦彦</a:t>
            </a:r>
            <a:r>
              <a:rPr lang="zh-CN" altLang="en-US" b="1" dirty="0" smtClean="0"/>
              <a:t>为主帅</a:t>
            </a:r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曹组、万俟咏等大晟词人群</a:t>
            </a:r>
            <a:endParaRPr lang="zh-CN" altLang="en-US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47664" y="188640"/>
            <a:ext cx="8540750" cy="5903912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4000" b="1" dirty="0" smtClean="0">
                <a:solidFill>
                  <a:srgbClr val="002060"/>
                </a:solidFill>
              </a:rPr>
              <a:t>    三、南渡前后词坛</a:t>
            </a:r>
            <a:endParaRPr lang="zh-CN" altLang="en-US" sz="4000" b="1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b="1" dirty="0" smtClean="0"/>
              <a:t>李清照  朱敦儒  张元干  岳飞</a:t>
            </a:r>
            <a:endParaRPr lang="zh-CN" altLang="en-US" b="1" dirty="0" smtClean="0"/>
          </a:p>
          <a:p>
            <a:pPr eaLnBrk="1" hangingPunct="1"/>
            <a:r>
              <a:rPr lang="zh-CN" altLang="en-US" b="1" dirty="0" smtClean="0"/>
              <a:t>李清照</a:t>
            </a:r>
            <a:endParaRPr lang="en-US" altLang="zh-CN" b="1" dirty="0" smtClean="0"/>
          </a:p>
          <a:p>
            <a:pPr eaLnBrk="1" hangingPunct="1"/>
            <a:r>
              <a:rPr lang="en-US" altLang="zh-CN" b="1" dirty="0" smtClean="0"/>
              <a:t>《</a:t>
            </a:r>
            <a:r>
              <a:rPr lang="zh-CN" altLang="en-US" b="1" dirty="0" smtClean="0"/>
              <a:t>一剪梅</a:t>
            </a:r>
            <a:r>
              <a:rPr lang="en-US" altLang="zh-CN" b="1" dirty="0" smtClean="0"/>
              <a:t>》</a:t>
            </a:r>
            <a:r>
              <a:rPr lang="zh-CN" altLang="en-US" b="1" dirty="0" smtClean="0"/>
              <a:t>（红藕香残玉簟秋）</a:t>
            </a:r>
            <a:endParaRPr lang="zh-CN" altLang="en-US" b="1" dirty="0" smtClean="0"/>
          </a:p>
          <a:p>
            <a:pPr eaLnBrk="1" hangingPunct="1"/>
            <a:r>
              <a:rPr lang="en-US" altLang="zh-CN" b="1" dirty="0" smtClean="0"/>
              <a:t>《</a:t>
            </a:r>
            <a:r>
              <a:rPr lang="zh-CN" altLang="en-US" b="1" dirty="0" smtClean="0"/>
              <a:t>武陵春</a:t>
            </a:r>
            <a:r>
              <a:rPr lang="en-US" altLang="zh-CN" b="1" dirty="0" smtClean="0"/>
              <a:t>》 《</a:t>
            </a:r>
            <a:r>
              <a:rPr lang="zh-CN" altLang="en-US" b="1" dirty="0" smtClean="0"/>
              <a:t>声声慢</a:t>
            </a:r>
            <a:r>
              <a:rPr lang="en-US" altLang="zh-CN" b="1" dirty="0" smtClean="0"/>
              <a:t>》《</a:t>
            </a:r>
            <a:r>
              <a:rPr lang="zh-CN" altLang="en-US" b="1" dirty="0" smtClean="0"/>
              <a:t>永遇乐</a:t>
            </a:r>
            <a:r>
              <a:rPr lang="en-US" altLang="zh-CN" b="1" dirty="0" smtClean="0"/>
              <a:t>》</a:t>
            </a:r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岳飞</a:t>
            </a:r>
            <a:endParaRPr lang="zh-CN" altLang="en-US" b="1" dirty="0" smtClean="0"/>
          </a:p>
          <a:p>
            <a:pPr eaLnBrk="1" hangingPunct="1"/>
            <a:r>
              <a:rPr lang="en-US" altLang="zh-CN" b="1" dirty="0" smtClean="0"/>
              <a:t>《</a:t>
            </a:r>
            <a:r>
              <a:rPr lang="zh-CN" altLang="en-US" b="1" dirty="0" smtClean="0"/>
              <a:t>满江红</a:t>
            </a:r>
            <a:r>
              <a:rPr lang="en-US" altLang="zh-CN" b="1" dirty="0" smtClean="0"/>
              <a:t>》</a:t>
            </a:r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三十功名尘与土，八千里路云和月</a:t>
            </a:r>
            <a:endParaRPr lang="en-US" altLang="zh-CN" b="1" dirty="0" smtClean="0"/>
          </a:p>
          <a:p>
            <a:pPr eaLnBrk="1" hangingPunct="1"/>
            <a:endParaRPr lang="en-US" altLang="zh-CN" b="1" dirty="0" smtClean="0"/>
          </a:p>
          <a:p>
            <a:pPr eaLnBrk="1" hangingPunct="1"/>
            <a:endParaRPr lang="zh-CN" altLang="en-US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 algn="ctr" eaLnBrk="1" hangingPunct="1">
              <a:buNone/>
            </a:pPr>
            <a:r>
              <a:rPr lang="zh-CN" altLang="en-US" sz="3600" b="1" dirty="0" smtClean="0">
                <a:solidFill>
                  <a:srgbClr val="002060"/>
                </a:solidFill>
                <a:sym typeface="+mn-ea"/>
              </a:rPr>
              <a:t>四、南宋词坛</a:t>
            </a:r>
            <a:endParaRPr lang="zh-CN" altLang="en-US" b="1" dirty="0" smtClean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b="1" dirty="0">
                <a:sym typeface="+mn-ea"/>
              </a:rPr>
              <a:t>辛弃疾   以文为词 用经用史  刚柔相济</a:t>
            </a:r>
            <a:endParaRPr lang="zh-CN" altLang="en-US" b="1" dirty="0">
              <a:sym typeface="+mn-ea"/>
            </a:endParaRPr>
          </a:p>
          <a:p>
            <a:pPr eaLnBrk="1" hangingPunct="1"/>
            <a:r>
              <a:rPr lang="zh-CN" altLang="en-US" b="1" dirty="0">
                <a:sym typeface="+mn-ea"/>
              </a:rPr>
              <a:t>辛派词人   远承东坡而近学稼轩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zh-CN" altLang="en-US" b="1" dirty="0">
                <a:sym typeface="+mn-ea"/>
              </a:rPr>
              <a:t> 辛派先驱  张孝祥  </a:t>
            </a:r>
            <a:r>
              <a:rPr lang="en-US" altLang="zh-CN" b="1" dirty="0">
                <a:sym typeface="+mn-ea"/>
              </a:rPr>
              <a:t>《</a:t>
            </a:r>
            <a:r>
              <a:rPr lang="zh-CN" altLang="en-US" b="1" dirty="0">
                <a:sym typeface="+mn-ea"/>
              </a:rPr>
              <a:t>六州歌头</a:t>
            </a:r>
            <a:r>
              <a:rPr lang="en-US" altLang="zh-CN" b="1" dirty="0">
                <a:sym typeface="+mn-ea"/>
              </a:rPr>
              <a:t>》</a:t>
            </a:r>
            <a:r>
              <a:rPr lang="zh-CN" altLang="en-US" b="1" dirty="0">
                <a:sym typeface="+mn-ea"/>
              </a:rPr>
              <a:t>（长淮望断）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zh-CN" altLang="en-US" b="1" dirty="0">
                <a:sym typeface="+mn-ea"/>
              </a:rPr>
              <a:t> 辛派中坚  陆游  </a:t>
            </a:r>
            <a:r>
              <a:rPr lang="en-US" altLang="zh-CN" b="1" dirty="0">
                <a:sym typeface="+mn-ea"/>
              </a:rPr>
              <a:t>《</a:t>
            </a:r>
            <a:r>
              <a:rPr lang="zh-CN" altLang="en-US" b="1" dirty="0">
                <a:sym typeface="+mn-ea"/>
              </a:rPr>
              <a:t>诉衷情</a:t>
            </a:r>
            <a:r>
              <a:rPr lang="en-US" altLang="zh-CN" b="1" dirty="0">
                <a:sym typeface="+mn-ea"/>
              </a:rPr>
              <a:t>》</a:t>
            </a:r>
            <a:r>
              <a:rPr lang="zh-CN" altLang="en-US" b="1" dirty="0">
                <a:sym typeface="+mn-ea"/>
              </a:rPr>
              <a:t>（当年万里觅封侯）     有众家之长，“而皆不能造其极”</a:t>
            </a:r>
            <a:endParaRPr lang="en-US" altLang="zh-CN" b="1" dirty="0"/>
          </a:p>
          <a:p>
            <a:pPr eaLnBrk="1" hangingPunct="1"/>
            <a:r>
              <a:rPr lang="zh-CN" altLang="en-US" b="1" dirty="0">
                <a:sym typeface="+mn-ea"/>
              </a:rPr>
              <a:t>与辛词相似的陈亮</a:t>
            </a:r>
            <a:endParaRPr lang="en-US" altLang="zh-CN" b="1" dirty="0"/>
          </a:p>
          <a:p>
            <a:pPr eaLnBrk="1" hangingPunct="1"/>
            <a:r>
              <a:rPr lang="zh-CN" altLang="en-US" b="1" dirty="0">
                <a:sym typeface="+mn-ea"/>
              </a:rPr>
              <a:t>效辛体而自成一家的刘过</a:t>
            </a:r>
            <a:endParaRPr lang="zh-CN" altLang="en-US" b="1" dirty="0"/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64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336233"/>
            <a:ext cx="8540750" cy="5903912"/>
          </a:xfrm>
        </p:spPr>
        <p:txBody>
          <a:bodyPr/>
          <a:lstStyle/>
          <a:p>
            <a:pPr algn="ctr">
              <a:buNone/>
            </a:pPr>
            <a:r>
              <a:rPr lang="zh-CN" altLang="en-US" sz="3200" b="1" dirty="0" smtClean="0">
                <a:solidFill>
                  <a:srgbClr val="C00000"/>
                </a:solidFill>
              </a:rPr>
              <a:t>李</a:t>
            </a:r>
            <a:r>
              <a:rPr lang="zh-CN" altLang="en-US" sz="3200" b="1" dirty="0">
                <a:solidFill>
                  <a:srgbClr val="C00000"/>
                </a:solidFill>
              </a:rPr>
              <a:t>清照 </a:t>
            </a:r>
            <a:r>
              <a:rPr lang="en-US" altLang="zh-CN" sz="3200" b="1" dirty="0" smtClean="0">
                <a:solidFill>
                  <a:srgbClr val="C00000"/>
                </a:solidFill>
              </a:rPr>
              <a:t>:</a:t>
            </a:r>
            <a:r>
              <a:rPr lang="zh-CN" altLang="en-US" sz="3200" b="1" dirty="0" smtClean="0">
                <a:solidFill>
                  <a:srgbClr val="C00000"/>
                </a:solidFill>
              </a:rPr>
              <a:t>  怎一个愁字了得</a:t>
            </a:r>
            <a:endParaRPr lang="en-US" altLang="zh-CN" sz="3200" b="1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zh-CN" altLang="en-US" sz="3200" b="1" dirty="0"/>
          </a:p>
          <a:p>
            <a:r>
              <a:rPr lang="zh-CN" altLang="en-US" b="1" dirty="0"/>
              <a:t>李清照（</a:t>
            </a:r>
            <a:r>
              <a:rPr lang="en-US" altLang="zh-CN" b="1" dirty="0"/>
              <a:t>1084-1155</a:t>
            </a:r>
            <a:r>
              <a:rPr lang="zh-CN" altLang="en-US" b="1" dirty="0"/>
              <a:t>？）</a:t>
            </a:r>
            <a:endParaRPr lang="zh-CN" altLang="en-US" b="1" dirty="0"/>
          </a:p>
          <a:p>
            <a:r>
              <a:rPr lang="zh-CN" altLang="en-US" b="1" dirty="0"/>
              <a:t>词“</a:t>
            </a:r>
            <a:r>
              <a:rPr lang="zh-CN" altLang="en-US" b="1" dirty="0">
                <a:solidFill>
                  <a:srgbClr val="002060"/>
                </a:solidFill>
              </a:rPr>
              <a:t>别是一家</a:t>
            </a:r>
            <a:r>
              <a:rPr lang="zh-CN" altLang="en-US" b="1" dirty="0"/>
              <a:t>”：词是与诗不同的一种独</a:t>
            </a:r>
            <a:endParaRPr lang="zh-CN" altLang="en-US" b="1" dirty="0"/>
          </a:p>
          <a:p>
            <a:r>
              <a:rPr lang="zh-CN" altLang="en-US" b="1" dirty="0"/>
              <a:t>立的抒情文体，对音乐性有更独特要求</a:t>
            </a:r>
            <a:endParaRPr lang="zh-CN" altLang="en-US" b="1" dirty="0"/>
          </a:p>
          <a:p>
            <a:r>
              <a:rPr lang="zh-CN" altLang="en-US" b="1" dirty="0"/>
              <a:t>她的一生，享受过幸福，也饱经苦难。</a:t>
            </a:r>
            <a:endParaRPr lang="zh-CN" altLang="en-US" b="1" dirty="0"/>
          </a:p>
          <a:p>
            <a:r>
              <a:rPr lang="en-US" altLang="zh-CN" b="1" dirty="0"/>
              <a:t>18</a:t>
            </a:r>
            <a:r>
              <a:rPr lang="zh-CN" altLang="en-US" b="1" dirty="0"/>
              <a:t>岁与赵明诚结婚，生活舒心适意。靖康之难（</a:t>
            </a:r>
            <a:r>
              <a:rPr lang="en-US" altLang="zh-CN" b="1" dirty="0"/>
              <a:t>1127</a:t>
            </a:r>
            <a:r>
              <a:rPr lang="zh-CN" altLang="en-US" b="1" dirty="0"/>
              <a:t>年）后，李清照国破夫亡，受尽劫难和折磨。</a:t>
            </a:r>
            <a:endParaRPr lang="zh-CN" altLang="en-US" b="1" dirty="0"/>
          </a:p>
          <a:p>
            <a:r>
              <a:rPr lang="zh-CN" altLang="en-US" b="1" dirty="0"/>
              <a:t>中国文学史上</a:t>
            </a:r>
            <a:r>
              <a:rPr lang="zh-CN" altLang="en-US" b="1" dirty="0">
                <a:solidFill>
                  <a:srgbClr val="002060"/>
                </a:solidFill>
              </a:rPr>
              <a:t>创造力最强、艺术成就最高</a:t>
            </a:r>
            <a:r>
              <a:rPr lang="zh-CN" altLang="en-US" b="1" dirty="0"/>
              <a:t>的女性作家。</a:t>
            </a:r>
            <a:endParaRPr lang="zh-CN" altLang="en-US" b="1" dirty="0"/>
          </a:p>
        </p:txBody>
      </p:sp>
      <p:pic>
        <p:nvPicPr>
          <p:cNvPr id="318468" name="图片 5" descr="xin_1101050610386562778131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039610" y="914400"/>
            <a:ext cx="1584325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74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620713"/>
            <a:ext cx="8540750" cy="56165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生动展现了</a:t>
            </a:r>
            <a:r>
              <a:rPr lang="zh-CN" altLang="en-US" b="1" dirty="0">
                <a:solidFill>
                  <a:srgbClr val="002060"/>
                </a:solidFill>
              </a:rPr>
              <a:t>生命</a:t>
            </a:r>
            <a:r>
              <a:rPr lang="zh-CN" altLang="en-US" b="1" dirty="0"/>
              <a:t>历程和</a:t>
            </a:r>
            <a:r>
              <a:rPr lang="zh-CN" altLang="en-US" b="1" dirty="0">
                <a:solidFill>
                  <a:srgbClr val="002060"/>
                </a:solidFill>
              </a:rPr>
              <a:t>情感</a:t>
            </a:r>
            <a:r>
              <a:rPr lang="zh-CN" altLang="en-US" b="1" dirty="0"/>
              <a:t>历程</a:t>
            </a:r>
            <a:endParaRPr lang="zh-CN" altLang="en-US" b="1" dirty="0"/>
          </a:p>
          <a:p>
            <a:r>
              <a:rPr lang="en-US" altLang="zh-CN" b="1" dirty="0" smtClean="0"/>
              <a:t>《</a:t>
            </a:r>
            <a:r>
              <a:rPr lang="zh-CN" altLang="en-US" b="1" dirty="0" smtClean="0"/>
              <a:t>点绛唇</a:t>
            </a:r>
            <a:r>
              <a:rPr lang="en-US" altLang="zh-CN" b="1" dirty="0" smtClean="0"/>
              <a:t>》</a:t>
            </a:r>
            <a:r>
              <a:rPr lang="zh-CN" altLang="en-US" b="1" dirty="0" smtClean="0"/>
              <a:t>（蹴罢秋千）</a:t>
            </a:r>
            <a:endParaRPr lang="zh-CN" altLang="en-US" b="1" dirty="0" smtClean="0"/>
          </a:p>
          <a:p>
            <a:r>
              <a:rPr lang="en-US" altLang="zh-CN" b="1" dirty="0" smtClean="0"/>
              <a:t>《</a:t>
            </a:r>
            <a:r>
              <a:rPr lang="zh-CN" altLang="en-US" b="1" dirty="0"/>
              <a:t>如梦令</a:t>
            </a:r>
            <a:r>
              <a:rPr lang="en-US" altLang="zh-CN" b="1" dirty="0"/>
              <a:t>》</a:t>
            </a:r>
            <a:r>
              <a:rPr lang="zh-CN" altLang="en-US" b="1" dirty="0"/>
              <a:t>（昨夜雨疏风骤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r>
              <a:rPr lang="en-US" altLang="zh-CN" b="1" dirty="0" smtClean="0"/>
              <a:t>《</a:t>
            </a:r>
            <a:r>
              <a:rPr lang="zh-CN" altLang="en-US" b="1" dirty="0" smtClean="0"/>
              <a:t>一剪梅</a:t>
            </a:r>
            <a:r>
              <a:rPr lang="en-US" altLang="zh-CN" b="1" dirty="0" smtClean="0"/>
              <a:t>》</a:t>
            </a:r>
            <a:r>
              <a:rPr lang="zh-CN" altLang="en-US" b="1" dirty="0" smtClean="0"/>
              <a:t>（红藕香残玉簟秋）</a:t>
            </a:r>
            <a:endParaRPr lang="zh-CN" altLang="en-US" b="1" dirty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《</a:t>
            </a:r>
            <a:r>
              <a:rPr lang="zh-CN" altLang="en-US" b="1" dirty="0" smtClean="0"/>
              <a:t>永遇乐</a:t>
            </a:r>
            <a:r>
              <a:rPr lang="en-US" altLang="zh-CN" b="1" dirty="0" smtClean="0"/>
              <a:t>》</a:t>
            </a:r>
            <a:r>
              <a:rPr lang="zh-CN" altLang="en-US" b="1" dirty="0" smtClean="0"/>
              <a:t>（落日熔金）</a:t>
            </a:r>
            <a:endParaRPr lang="zh-CN" altLang="en-US" b="1" dirty="0" smtClean="0"/>
          </a:p>
          <a:p>
            <a:pPr marL="0" indent="0">
              <a:buNone/>
            </a:pPr>
            <a:r>
              <a:rPr lang="zh-CN" altLang="en-US" b="1" dirty="0"/>
              <a:t>  艺术特色</a:t>
            </a:r>
            <a:endParaRPr lang="zh-CN" altLang="en-US" b="1" dirty="0"/>
          </a:p>
          <a:p>
            <a:r>
              <a:rPr lang="zh-CN" altLang="en-US" sz="2800" b="1" dirty="0"/>
              <a:t>善于通过</a:t>
            </a:r>
            <a:r>
              <a:rPr lang="zh-CN" altLang="en-US" sz="2800" b="1" dirty="0">
                <a:solidFill>
                  <a:srgbClr val="002060"/>
                </a:solidFill>
              </a:rPr>
              <a:t>环境、行动、细节描写</a:t>
            </a:r>
            <a:r>
              <a:rPr lang="zh-CN" altLang="en-US" sz="2800" b="1" dirty="0"/>
              <a:t>来展现内心世界</a:t>
            </a:r>
            <a:endParaRPr lang="zh-CN" altLang="en-US" sz="2800" b="1" dirty="0"/>
          </a:p>
          <a:p>
            <a:r>
              <a:rPr lang="zh-CN" altLang="en-US" sz="2800" b="1" dirty="0"/>
              <a:t>擅长</a:t>
            </a:r>
            <a:r>
              <a:rPr lang="zh-CN" altLang="en-US" sz="2800" b="1" dirty="0">
                <a:solidFill>
                  <a:srgbClr val="002060"/>
                </a:solidFill>
              </a:rPr>
              <a:t>提炼</a:t>
            </a:r>
            <a:r>
              <a:rPr lang="zh-CN" altLang="en-US" sz="2800" b="1" dirty="0"/>
              <a:t>口语、书面语</a:t>
            </a:r>
            <a:endParaRPr lang="zh-CN" altLang="en-US" sz="2800" b="1" dirty="0"/>
          </a:p>
          <a:p>
            <a:r>
              <a:rPr lang="zh-CN" altLang="en-US" sz="2800" b="1" dirty="0"/>
              <a:t>用最平常最简练的</a:t>
            </a:r>
            <a:r>
              <a:rPr lang="zh-CN" altLang="en-US" sz="2800" b="1" dirty="0">
                <a:solidFill>
                  <a:srgbClr val="002060"/>
                </a:solidFill>
              </a:rPr>
              <a:t>生活化语言</a:t>
            </a:r>
            <a:r>
              <a:rPr lang="zh-CN" altLang="en-US" sz="2800" b="1" dirty="0"/>
              <a:t>表现复杂微妙的心理和多变的情感</a:t>
            </a:r>
            <a:endParaRPr lang="zh-CN" altLang="en-US" sz="2800" b="1" dirty="0"/>
          </a:p>
        </p:txBody>
      </p:sp>
      <p:pic>
        <p:nvPicPr>
          <p:cNvPr id="2" name="图片 1" descr="李清照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4865" y="760095"/>
            <a:ext cx="2849245" cy="1652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（一）浅愁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sz="3200" dirty="0" smtClean="0"/>
              <a:t>点绛唇</a:t>
            </a:r>
            <a:endParaRPr lang="en-US" altLang="zh-CN" sz="3200" dirty="0" smtClean="0"/>
          </a:p>
          <a:p>
            <a:pPr marL="0" indent="0" algn="ctr">
              <a:buNone/>
            </a:pPr>
            <a:r>
              <a:rPr lang="zh-CN" altLang="en-US" sz="3200" dirty="0" smtClean="0"/>
              <a:t>                  李</a:t>
            </a:r>
            <a:r>
              <a:rPr lang="zh-CN" altLang="en-US" sz="3200" dirty="0"/>
              <a:t>清</a:t>
            </a:r>
            <a:r>
              <a:rPr lang="zh-CN" altLang="en-US" sz="3200" dirty="0" smtClean="0"/>
              <a:t>照</a:t>
            </a:r>
            <a:endParaRPr lang="en-US" altLang="zh-CN" sz="3200" dirty="0" smtClean="0"/>
          </a:p>
          <a:p>
            <a:pPr marL="0" indent="0">
              <a:buNone/>
            </a:pPr>
            <a:r>
              <a:rPr lang="zh-CN" altLang="en-US" sz="3200" dirty="0" smtClean="0"/>
              <a:t> 蹴</a:t>
            </a:r>
            <a:r>
              <a:rPr lang="zh-CN" altLang="en-US" sz="3200" dirty="0"/>
              <a:t>罢秋千，起来慵整纤纤手。露浓花瘦，薄汗轻衣透</a:t>
            </a:r>
            <a:r>
              <a:rPr lang="zh-CN" altLang="en-US" sz="3200" dirty="0" smtClean="0"/>
              <a:t>。</a:t>
            </a:r>
            <a:endParaRPr lang="zh-CN" altLang="en-US" sz="3200" dirty="0" smtClean="0"/>
          </a:p>
          <a:p>
            <a:pPr marL="0" indent="0">
              <a:buNone/>
            </a:pPr>
            <a:r>
              <a:rPr lang="zh-CN" altLang="en-US" sz="3200" dirty="0" smtClean="0"/>
              <a:t>（</a:t>
            </a:r>
            <a:r>
              <a:rPr lang="zh-CN" altLang="en-US" sz="3200" dirty="0" smtClean="0">
                <a:solidFill>
                  <a:srgbClr val="002060"/>
                </a:solidFill>
              </a:rPr>
              <a:t>荡完秋千，静中见动</a:t>
            </a:r>
            <a:r>
              <a:rPr lang="zh-CN" altLang="en-US" sz="3200" dirty="0" smtClean="0"/>
              <a:t>）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sz="3200" dirty="0"/>
              <a:t>见客入来，袜刬</a:t>
            </a:r>
            <a:r>
              <a:rPr lang="zh-CN" altLang="en-US" sz="3200" dirty="0">
                <a:latin typeface="+mn-lt"/>
                <a:cs typeface="+mn-lt"/>
              </a:rPr>
              <a:t>（chǎn）</a:t>
            </a:r>
            <a:r>
              <a:rPr lang="zh-CN" altLang="en-US" sz="3200" dirty="0"/>
              <a:t>金钗溜。和羞走。倚门回首，却把青梅嗅</a:t>
            </a:r>
            <a:r>
              <a:rPr lang="zh-CN" altLang="en-US" sz="3200" dirty="0" smtClean="0"/>
              <a:t>。</a:t>
            </a:r>
            <a:endParaRPr lang="zh-CN" altLang="en-US" sz="3200" dirty="0" smtClean="0"/>
          </a:p>
          <a:p>
            <a:pPr marL="0" indent="0">
              <a:buNone/>
            </a:pPr>
            <a:r>
              <a:rPr lang="zh-CN" altLang="en-US" sz="3200" dirty="0" smtClean="0"/>
              <a:t>（</a:t>
            </a:r>
            <a:r>
              <a:rPr lang="zh-CN" altLang="en-US" sz="3200" dirty="0" smtClean="0">
                <a:solidFill>
                  <a:srgbClr val="002060"/>
                </a:solidFill>
              </a:rPr>
              <a:t>乍见来客，动作多变</a:t>
            </a:r>
            <a:r>
              <a:rPr lang="zh-CN" altLang="en-US" sz="3200" dirty="0" smtClean="0"/>
              <a:t>）</a:t>
            </a:r>
            <a:endParaRPr lang="zh-CN" altLang="en-US" sz="3200" dirty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sz="3200" dirty="0" smtClean="0"/>
              <a:t>如梦令</a:t>
            </a:r>
            <a:endParaRPr lang="en-US" altLang="zh-CN" sz="3200" dirty="0" smtClean="0"/>
          </a:p>
          <a:p>
            <a:r>
              <a:rPr lang="zh-CN" altLang="en-US" dirty="0" smtClean="0"/>
              <a:t>常记溪亭日暮，</a:t>
            </a:r>
            <a:r>
              <a:rPr lang="zh-CN" altLang="en-US" dirty="0" smtClean="0">
                <a:solidFill>
                  <a:srgbClr val="002060"/>
                </a:solidFill>
              </a:rPr>
              <a:t>沉醉</a:t>
            </a:r>
            <a:r>
              <a:rPr lang="zh-CN" altLang="en-US" dirty="0" smtClean="0"/>
              <a:t>不知归路。兴尽晚回舟，误入藕花深处。争渡，争渡，惊起一滩鸥鹭。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002060"/>
                </a:solidFill>
              </a:rPr>
              <a:t>热爱自然</a:t>
            </a:r>
            <a:r>
              <a:rPr lang="zh-CN" altLang="en-US" smtClean="0">
                <a:solidFill>
                  <a:srgbClr val="002060"/>
                </a:solidFill>
              </a:rPr>
              <a:t>，</a:t>
            </a:r>
            <a:r>
              <a:rPr lang="zh-CN" altLang="en-US" smtClean="0">
                <a:solidFill>
                  <a:srgbClr val="002060"/>
                </a:solidFill>
              </a:rPr>
              <a:t>流连忘返，</a:t>
            </a:r>
            <a:r>
              <a:rPr lang="zh-CN" altLang="en-US" dirty="0" smtClean="0">
                <a:solidFill>
                  <a:srgbClr val="002060"/>
                </a:solidFill>
              </a:rPr>
              <a:t>清新别致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昨夜雨疏风骤，浓睡不消残酒。试问卷帘人，却道海棠依旧。知否，知否？应是绿肥红瘦。</a:t>
            </a:r>
            <a:endParaRPr lang="zh-CN" altLang="en-US" dirty="0" smtClean="0"/>
          </a:p>
          <a:p>
            <a:r>
              <a:rPr lang="zh-CN" altLang="en-US" dirty="0"/>
              <a:t>（《蓼（liǎo园词选》：</a:t>
            </a:r>
            <a:r>
              <a:rPr lang="zh-CN" altLang="en-US" dirty="0">
                <a:solidFill>
                  <a:srgbClr val="002060"/>
                </a:solidFill>
              </a:rPr>
              <a:t>短幅中藏无数曲折，自是圣于词者</a:t>
            </a:r>
            <a:r>
              <a:rPr lang="zh-CN" altLang="en-US" dirty="0"/>
              <a:t>。）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7338" y="592826"/>
            <a:ext cx="594691" cy="5720397"/>
          </a:xfrm>
        </p:spPr>
        <p:txBody>
          <a:bodyPr/>
          <a:lstStyle/>
          <a:p>
            <a:r>
              <a:rPr lang="zh-CN" altLang="en-US" dirty="0" smtClean="0"/>
              <a:t>（一）浅愁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标题 1"/>
          <p:cNvSpPr>
            <a:spLocks noGrp="1"/>
          </p:cNvSpPr>
          <p:nvPr>
            <p:ph type="title" idx="4294967295"/>
          </p:nvPr>
        </p:nvSpPr>
        <p:spPr>
          <a:xfrm>
            <a:off x="323528" y="545038"/>
            <a:ext cx="594691" cy="5720397"/>
          </a:xfrm>
        </p:spPr>
        <p:txBody>
          <a:bodyPr/>
          <a:lstStyle/>
          <a:p>
            <a:r>
              <a:rPr lang="zh-CN" altLang="en-US" dirty="0" smtClean="0"/>
              <a:t>（二）闲愁</a:t>
            </a:r>
            <a:endParaRPr lang="zh-CN" altLang="en-US" dirty="0"/>
          </a:p>
        </p:txBody>
      </p:sp>
      <p:sp>
        <p:nvSpPr>
          <p:cNvPr id="318467" name="内容占位符 2"/>
          <p:cNvSpPr>
            <a:spLocks noGrp="1"/>
          </p:cNvSpPr>
          <p:nvPr>
            <p:ph idx="4294967295"/>
          </p:nvPr>
        </p:nvSpPr>
        <p:spPr>
          <a:xfrm>
            <a:off x="1115695" y="188595"/>
            <a:ext cx="7985125" cy="581215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             </a:t>
            </a:r>
            <a:r>
              <a:rPr lang="zh-CN" altLang="en-US" sz="4000" dirty="0">
                <a:latin typeface="隶书" panose="02010509060101010101" pitchFamily="49" charset="-122"/>
                <a:ea typeface="隶书" panose="02010509060101010101" pitchFamily="49" charset="-122"/>
              </a:rPr>
              <a:t>一剪梅 </a:t>
            </a:r>
            <a:endParaRPr lang="en-US" altLang="zh-CN" sz="40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              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李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清照</a:t>
            </a:r>
            <a:endParaRPr lang="zh-CN" altLang="en-US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3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800" dirty="0"/>
              <a:t> </a:t>
            </a:r>
            <a:r>
              <a:rPr lang="zh-CN" altLang="en-US" sz="3800" dirty="0" smtClean="0"/>
              <a:t> 红</a:t>
            </a:r>
            <a:r>
              <a:rPr lang="zh-CN" altLang="en-US" sz="3800" dirty="0"/>
              <a:t>藕香残玉簟秋，轻解罗裳，独上莲舟</a:t>
            </a:r>
            <a:r>
              <a:rPr lang="zh-CN" altLang="en-US" sz="3800" dirty="0" smtClean="0"/>
              <a:t>。云</a:t>
            </a:r>
            <a:r>
              <a:rPr lang="zh-CN" altLang="en-US" sz="3800" dirty="0"/>
              <a:t>中谁寄锦书来，雁字回时，月满西楼</a:t>
            </a:r>
            <a:r>
              <a:rPr lang="zh-CN" altLang="en-US" sz="3800" dirty="0" smtClean="0"/>
              <a:t>。 </a:t>
            </a:r>
            <a:endParaRPr lang="en-US" altLang="zh-CN" sz="3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800" dirty="0"/>
              <a:t> </a:t>
            </a:r>
            <a:r>
              <a:rPr lang="en-US" altLang="zh-CN" sz="3800" dirty="0" smtClean="0"/>
              <a:t> </a:t>
            </a:r>
            <a:r>
              <a:rPr lang="zh-CN" altLang="zh-CN" sz="3800" dirty="0" smtClean="0"/>
              <a:t>花自</a:t>
            </a:r>
            <a:r>
              <a:rPr lang="zh-CN" altLang="en-US" sz="3800" dirty="0" smtClean="0"/>
              <a:t>飘零</a:t>
            </a:r>
            <a:r>
              <a:rPr lang="zh-CN" altLang="zh-CN" sz="3800" dirty="0" smtClean="0"/>
              <a:t>水</a:t>
            </a:r>
            <a:r>
              <a:rPr lang="zh-CN" altLang="zh-CN" sz="3800" dirty="0"/>
              <a:t>自流，一种相思，两</a:t>
            </a:r>
            <a:r>
              <a:rPr lang="zh-CN" altLang="zh-CN" sz="3800" dirty="0" smtClean="0"/>
              <a:t>处闲愁</a:t>
            </a:r>
            <a:r>
              <a:rPr lang="zh-CN" altLang="zh-CN" sz="3800" dirty="0"/>
              <a:t>。此情无计可消除，才下眉头</a:t>
            </a:r>
            <a:r>
              <a:rPr lang="zh-CN" altLang="zh-CN" sz="3800" dirty="0" smtClean="0"/>
              <a:t>，却</a:t>
            </a:r>
            <a:r>
              <a:rPr lang="zh-CN" altLang="zh-CN" sz="3800" dirty="0"/>
              <a:t>上心头。</a:t>
            </a:r>
            <a:endParaRPr lang="zh-CN" altLang="zh-CN" sz="3800" dirty="0"/>
          </a:p>
          <a:p>
            <a:pPr>
              <a:buFont typeface="Wingdings" panose="05000000000000000000" pitchFamily="2" charset="2"/>
              <a:buNone/>
            </a:pPr>
            <a:endParaRPr lang="zh-CN" altLang="zh-CN" sz="3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3800" dirty="0"/>
              <a:t>（李廷机《草堂诗余评林》：</a:t>
            </a:r>
            <a:r>
              <a:rPr lang="zh-CN" altLang="zh-CN" sz="3800" dirty="0">
                <a:solidFill>
                  <a:srgbClr val="002060"/>
                </a:solidFill>
              </a:rPr>
              <a:t>语意飘逸，令人省目</a:t>
            </a:r>
            <a:r>
              <a:rPr lang="zh-CN" altLang="zh-CN" sz="3800" dirty="0"/>
              <a:t>）</a:t>
            </a:r>
            <a:endParaRPr lang="zh-CN" altLang="zh-CN" sz="3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 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标题 1"/>
          <p:cNvSpPr>
            <a:spLocks noGrp="1"/>
          </p:cNvSpPr>
          <p:nvPr>
            <p:ph type="title" idx="4294967295"/>
          </p:nvPr>
        </p:nvSpPr>
        <p:spPr>
          <a:xfrm>
            <a:off x="323528" y="545038"/>
            <a:ext cx="594691" cy="5720397"/>
          </a:xfrm>
        </p:spPr>
        <p:txBody>
          <a:bodyPr/>
          <a:lstStyle/>
          <a:p>
            <a:r>
              <a:rPr lang="zh-CN" altLang="en-US" dirty="0" smtClean="0"/>
              <a:t>（二）闲愁</a:t>
            </a:r>
            <a:endParaRPr lang="zh-CN" altLang="en-US" dirty="0"/>
          </a:p>
        </p:txBody>
      </p:sp>
      <p:sp>
        <p:nvSpPr>
          <p:cNvPr id="318467" name="内容占位符 2"/>
          <p:cNvSpPr>
            <a:spLocks noGrp="1"/>
          </p:cNvSpPr>
          <p:nvPr>
            <p:ph idx="4294967295"/>
          </p:nvPr>
        </p:nvSpPr>
        <p:spPr>
          <a:xfrm>
            <a:off x="1115695" y="260350"/>
            <a:ext cx="7891145" cy="6142990"/>
          </a:xfrm>
        </p:spPr>
        <p:txBody>
          <a:bodyPr>
            <a:normAutofit fontScale="97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            </a:t>
            </a: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 蝶恋花</a:t>
            </a:r>
            <a:r>
              <a:rPr lang="zh-CN" altLang="en-US" sz="40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32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离情</a:t>
            </a:r>
            <a:endParaRPr lang="en-US" altLang="zh-CN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              </a:t>
            </a:r>
            <a:r>
              <a:rPr lang="zh-CN" altLang="en-US" sz="2800" dirty="0" smtClean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李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清</a:t>
            </a:r>
            <a:r>
              <a:rPr lang="zh-CN" altLang="en-US" sz="28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照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3200" dirty="0"/>
              <a:t>暖雨晴风初破冻，</a:t>
            </a:r>
            <a:r>
              <a:rPr lang="zh-CN" altLang="en-US" sz="3200" dirty="0">
                <a:solidFill>
                  <a:srgbClr val="002060"/>
                </a:solidFill>
              </a:rPr>
              <a:t>柳眼梅腮</a:t>
            </a:r>
            <a:r>
              <a:rPr lang="zh-CN" altLang="en-US" sz="3200" dirty="0"/>
              <a:t>，已觉春心动。酒意诗情谁与共？泪融残粉花钿重。</a:t>
            </a:r>
            <a:endParaRPr lang="zh-CN" altLang="en-US" sz="3200" dirty="0"/>
          </a:p>
          <a:p>
            <a:r>
              <a:rPr lang="zh-CN" altLang="en-US" sz="3200" dirty="0"/>
              <a:t>乍试夹衫金缕缝，山枕斜欹（</a:t>
            </a:r>
            <a:r>
              <a:rPr lang="zh-CN" altLang="en-US" sz="3200" dirty="0">
                <a:latin typeface="+mn-lt"/>
                <a:cs typeface="+mn-lt"/>
              </a:rPr>
              <a:t>qī</a:t>
            </a:r>
            <a:r>
              <a:rPr lang="zh-CN" altLang="en-US" sz="3200" dirty="0"/>
              <a:t>），枕损钗头凤。独抱浓愁无好梦，夜阑犹剪灯花弄。</a:t>
            </a:r>
            <a:endParaRPr lang="zh-CN" altLang="en-US" sz="3200" dirty="0"/>
          </a:p>
          <a:p>
            <a:r>
              <a:rPr lang="zh-CN" altLang="en-US" sz="3200" dirty="0"/>
              <a:t>（正宗的</a:t>
            </a:r>
            <a:r>
              <a:rPr lang="zh-CN" altLang="en-US" sz="3200" dirty="0">
                <a:solidFill>
                  <a:srgbClr val="002060"/>
                </a:solidFill>
              </a:rPr>
              <a:t>婉约词</a:t>
            </a:r>
            <a:r>
              <a:rPr lang="zh-CN" altLang="en-US" sz="3200" dirty="0"/>
              <a:t>。傅东华：</a:t>
            </a:r>
            <a:r>
              <a:rPr lang="zh-CN" altLang="en-US" sz="3200" dirty="0">
                <a:solidFill>
                  <a:srgbClr val="002060"/>
                </a:solidFill>
              </a:rPr>
              <a:t>她不向词的广处开拓，却向词的高处求精</a:t>
            </a:r>
            <a:r>
              <a:rPr lang="zh-CN" altLang="en-US" sz="3200" dirty="0"/>
              <a:t>）</a:t>
            </a:r>
            <a:endParaRPr lang="zh-CN" altLang="en-US" sz="32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	 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（三）哀愁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武 陵 春</a:t>
            </a:r>
            <a:endParaRPr lang="en-US" altLang="zh-CN" dirty="0" smtClean="0"/>
          </a:p>
          <a:p>
            <a:r>
              <a:rPr lang="zh-CN" altLang="en-US" sz="3200" dirty="0" smtClean="0"/>
              <a:t>风住尘香花已尽，日晚倦梳头。物是人非事事休，欲语泪先流。</a:t>
            </a:r>
            <a:endParaRPr lang="zh-CN" altLang="en-US" sz="3200" dirty="0" smtClean="0"/>
          </a:p>
          <a:p>
            <a:endParaRPr lang="zh-CN" altLang="en-US" sz="3200" dirty="0" smtClean="0"/>
          </a:p>
          <a:p>
            <a:r>
              <a:rPr lang="zh-CN" altLang="en-US" sz="3200" dirty="0" smtClean="0">
                <a:solidFill>
                  <a:srgbClr val="002060"/>
                </a:solidFill>
              </a:rPr>
              <a:t>闻说</a:t>
            </a:r>
            <a:r>
              <a:rPr lang="zh-CN" altLang="en-US" sz="3200" dirty="0" smtClean="0"/>
              <a:t>双溪春尚好，</a:t>
            </a:r>
            <a:r>
              <a:rPr lang="zh-CN" altLang="en-US" sz="3200" dirty="0" smtClean="0">
                <a:solidFill>
                  <a:srgbClr val="002060"/>
                </a:solidFill>
              </a:rPr>
              <a:t>也拟</a:t>
            </a:r>
            <a:r>
              <a:rPr lang="zh-CN" altLang="en-US" sz="3200" dirty="0" smtClean="0"/>
              <a:t>泛轻舟。</a:t>
            </a:r>
            <a:r>
              <a:rPr lang="zh-CN" altLang="en-US" sz="3200" dirty="0" smtClean="0">
                <a:solidFill>
                  <a:srgbClr val="002060"/>
                </a:solidFill>
              </a:rPr>
              <a:t>只恐双溪舴艋舟，载不动许多愁。</a:t>
            </a:r>
            <a:endParaRPr lang="zh-CN" altLang="en-US" sz="3200" dirty="0" smtClean="0"/>
          </a:p>
          <a:p>
            <a:pPr marL="0" indent="0" algn="ctr">
              <a:buNone/>
            </a:pPr>
            <a:r>
              <a:rPr lang="zh-CN" altLang="en-US" sz="3200" dirty="0" smtClean="0"/>
              <a:t>  （由表及里，从外到内；</a:t>
            </a:r>
            <a:endParaRPr lang="zh-CN" altLang="en-US" sz="3200" dirty="0" smtClean="0"/>
          </a:p>
          <a:p>
            <a:pPr marL="0" indent="0" algn="ctr">
              <a:buNone/>
            </a:pPr>
            <a:r>
              <a:rPr lang="zh-CN" altLang="en-US" sz="3200" dirty="0" smtClean="0">
                <a:solidFill>
                  <a:srgbClr val="002060"/>
                </a:solidFill>
              </a:rPr>
              <a:t>     一波三折，感人至深</a:t>
            </a:r>
            <a:r>
              <a:rPr lang="zh-CN" altLang="en-US" sz="3200" dirty="0" smtClean="0"/>
              <a:t>）</a:t>
            </a:r>
            <a:endParaRPr lang="zh-CN" altLang="en-US" sz="3200" dirty="0" smtClean="0"/>
          </a:p>
          <a:p>
            <a:pPr algn="ctr"/>
            <a:endParaRPr lang="zh-CN" altLang="en-US" sz="3200" dirty="0" smtClean="0"/>
          </a:p>
          <a:p>
            <a:endParaRPr lang="en-US" altLang="zh-CN" sz="3200" dirty="0" smtClean="0"/>
          </a:p>
          <a:p>
            <a:endParaRPr lang="en-US" altLang="zh-CN" sz="3200" dirty="0" smtClean="0"/>
          </a:p>
          <a:p>
            <a:pPr algn="r">
              <a:buNone/>
            </a:pPr>
            <a:endParaRPr lang="zh-CN" altLang="en-US" sz="3200" dirty="0" smtClean="0"/>
          </a:p>
          <a:p>
            <a:pPr>
              <a:buNone/>
            </a:pPr>
            <a:endParaRPr lang="en-US" altLang="zh-CN" sz="32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（三）哀愁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永 遇 乐</a:t>
            </a:r>
            <a:endParaRPr lang="en-US" altLang="zh-CN" dirty="0" smtClean="0"/>
          </a:p>
          <a:p>
            <a:r>
              <a:rPr lang="zh-CN" altLang="en-US" sz="3000" dirty="0" smtClean="0"/>
              <a:t>落日熔金，暮云合璧，人在何处？染柳烟浓，吹梅笛怨，春意知几许？元宵佳节，融和天气，次第岂无风雨？来相召、香车宝马，谢他酒朋诗侣。</a:t>
            </a:r>
            <a:endParaRPr lang="zh-CN" altLang="en-US" sz="3000" dirty="0" smtClean="0"/>
          </a:p>
          <a:p>
            <a:r>
              <a:rPr lang="zh-CN" altLang="en-US" sz="3000" dirty="0" smtClean="0"/>
              <a:t>中州盛日，闺门多暇，记得偏重三五。铺翠冠儿、捻金雪柳，簇带争济</a:t>
            </a:r>
            <a:r>
              <a:rPr lang="zh-CN" altLang="en-US" sz="3000" dirty="0" smtClean="0">
                <a:latin typeface="+mj-lt"/>
                <a:cs typeface="+mj-lt"/>
              </a:rPr>
              <a:t>（jǐ ）</a:t>
            </a:r>
            <a:r>
              <a:rPr lang="zh-CN" altLang="en-US" sz="3000" dirty="0" smtClean="0"/>
              <a:t>楚。如今憔悴，风鬟雾鬓，怕见夜间出去。不如向帘儿底下，听人笑语。</a:t>
            </a:r>
            <a:endParaRPr lang="zh-CN" altLang="en-US" sz="3000" dirty="0" smtClean="0"/>
          </a:p>
          <a:p>
            <a:endParaRPr lang="en-US" altLang="zh-CN" sz="3200" dirty="0" smtClean="0"/>
          </a:p>
          <a:p>
            <a:pPr algn="r">
              <a:buNone/>
            </a:pPr>
            <a:endParaRPr lang="zh-CN" altLang="en-US" sz="3200" dirty="0" smtClean="0"/>
          </a:p>
          <a:p>
            <a:pPr>
              <a:buNone/>
            </a:pPr>
            <a:endParaRPr lang="en-US" altLang="zh-CN" sz="32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《永遇乐》中的</a:t>
            </a:r>
            <a:r>
              <a:rPr lang="zh-CN" altLang="en-US">
                <a:solidFill>
                  <a:srgbClr val="C00000"/>
                </a:solidFill>
              </a:rPr>
              <a:t>隐喻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春意：自然界的春意</a:t>
            </a:r>
            <a:endParaRPr lang="zh-CN" altLang="en-US" sz="3200" dirty="0"/>
          </a:p>
          <a:p>
            <a:r>
              <a:rPr lang="zh-CN" altLang="en-US" sz="3200" dirty="0"/>
              <a:t>            人生的春意</a:t>
            </a:r>
            <a:endParaRPr lang="zh-CN" altLang="en-US" sz="3200" dirty="0"/>
          </a:p>
          <a:p>
            <a:endParaRPr lang="zh-CN" altLang="en-US" sz="3200" dirty="0"/>
          </a:p>
          <a:p>
            <a:r>
              <a:rPr lang="zh-CN" altLang="en-US" sz="3200" dirty="0"/>
              <a:t>风雨：自然界的风雨</a:t>
            </a:r>
            <a:endParaRPr lang="zh-CN" altLang="en-US" sz="3200" dirty="0"/>
          </a:p>
          <a:p>
            <a:r>
              <a:rPr lang="zh-CN" altLang="en-US" sz="3200" dirty="0"/>
              <a:t>             社会的风雨</a:t>
            </a:r>
            <a:endParaRPr lang="zh-CN" altLang="en-US" sz="3200" dirty="0"/>
          </a:p>
          <a:p>
            <a:r>
              <a:rPr lang="zh-CN" altLang="en-US" sz="3200" dirty="0"/>
              <a:t>将身世飘零之感与国破家亡的悲愤融为一体</a:t>
            </a:r>
            <a:endParaRPr lang="zh-CN" altLang="en-US" sz="3200" dirty="0"/>
          </a:p>
          <a:p>
            <a:pPr marL="0" indent="0">
              <a:buNone/>
            </a:pPr>
            <a:r>
              <a:rPr lang="zh-CN" altLang="en-US" sz="3200" dirty="0"/>
              <a:t>（俞秀红，</a:t>
            </a:r>
            <a:r>
              <a:rPr lang="en-US" altLang="zh-CN" sz="3200" dirty="0"/>
              <a:t>2016</a:t>
            </a:r>
            <a:r>
              <a:rPr lang="zh-CN" altLang="en-US" sz="3200" dirty="0"/>
              <a:t>）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（三）哀愁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清 平 乐（yuè）</a:t>
            </a:r>
            <a:endParaRPr lang="zh-CN" altLang="en-US" sz="3600" dirty="0" smtClean="0"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</a:endParaRPr>
          </a:p>
          <a:p>
            <a:endParaRPr lang="zh-CN" altLang="en-US" sz="3200" dirty="0" smtClean="0"/>
          </a:p>
          <a:p>
            <a:r>
              <a:rPr lang="zh-CN" altLang="en-US" sz="3200" dirty="0" smtClean="0"/>
              <a:t>年年雪里，常插梅花醉。挼</a:t>
            </a:r>
            <a:r>
              <a:rPr lang="zh-CN" altLang="en-US" sz="3200" dirty="0" smtClean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（ruó）</a:t>
            </a:r>
            <a:r>
              <a:rPr lang="zh-CN" altLang="en-US" sz="3200" dirty="0" smtClean="0"/>
              <a:t>尽梅花无好意，赢得满衣清泪。</a:t>
            </a:r>
            <a:endParaRPr lang="zh-CN" altLang="en-US" sz="3200" dirty="0" smtClean="0"/>
          </a:p>
          <a:p>
            <a:r>
              <a:rPr lang="zh-CN" altLang="en-US" sz="3200" dirty="0" smtClean="0"/>
              <a:t>今年海角天涯，萧萧两鬓生华。看取晚来风势，故应难看梅花。</a:t>
            </a:r>
            <a:endParaRPr lang="zh-CN" altLang="en-US" sz="3200" dirty="0" smtClean="0"/>
          </a:p>
          <a:p>
            <a:endParaRPr lang="zh-CN" altLang="en-US" sz="3200" dirty="0" smtClean="0"/>
          </a:p>
          <a:p>
            <a:r>
              <a:rPr lang="zh-CN" altLang="en-US" sz="3200" dirty="0" smtClean="0"/>
              <a:t>（</a:t>
            </a:r>
            <a:r>
              <a:rPr lang="zh-CN" altLang="en-US" sz="3200" dirty="0" smtClean="0">
                <a:solidFill>
                  <a:srgbClr val="002060"/>
                </a:solidFill>
              </a:rPr>
              <a:t>赏梅而醉</a:t>
            </a:r>
            <a:r>
              <a:rPr lang="en-US" altLang="zh-CN" sz="3200" dirty="0" smtClean="0">
                <a:solidFill>
                  <a:srgbClr val="002060"/>
                </a:solidFill>
              </a:rPr>
              <a:t>—</a:t>
            </a:r>
            <a:r>
              <a:rPr lang="zh-CN" altLang="en-US" sz="3200" dirty="0" smtClean="0">
                <a:solidFill>
                  <a:srgbClr val="002060"/>
                </a:solidFill>
              </a:rPr>
              <a:t>对梅落泪</a:t>
            </a:r>
            <a:r>
              <a:rPr lang="en-US" altLang="zh-CN" sz="3200" dirty="0" smtClean="0">
                <a:solidFill>
                  <a:srgbClr val="002060"/>
                </a:solidFill>
              </a:rPr>
              <a:t>—</a:t>
            </a:r>
            <a:r>
              <a:rPr lang="zh-CN" altLang="en-US" sz="3200" dirty="0" smtClean="0">
                <a:solidFill>
                  <a:srgbClr val="002060"/>
                </a:solidFill>
              </a:rPr>
              <a:t>无心赏梅</a:t>
            </a:r>
            <a:r>
              <a:rPr lang="zh-CN" altLang="en-US" sz="3200" dirty="0" smtClean="0"/>
              <a:t>）</a:t>
            </a:r>
            <a:endParaRPr lang="zh-CN" altLang="en-US" sz="3200" dirty="0" smtClean="0"/>
          </a:p>
          <a:p>
            <a:endParaRPr lang="en-US" altLang="zh-CN" sz="3200" dirty="0" smtClean="0"/>
          </a:p>
          <a:p>
            <a:pPr algn="r">
              <a:buNone/>
            </a:pPr>
            <a:endParaRPr lang="zh-CN" altLang="en-US" sz="3200" dirty="0" smtClean="0"/>
          </a:p>
          <a:p>
            <a:pPr>
              <a:buNone/>
            </a:pPr>
            <a:endParaRPr lang="en-US" altLang="zh-CN" sz="32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198" y="355971"/>
            <a:ext cx="594691" cy="5720397"/>
          </a:xfrm>
        </p:spPr>
        <p:txBody>
          <a:bodyPr/>
          <a:lstStyle/>
          <a:p>
            <a:r>
              <a:rPr lang="zh-CN" altLang="en-US" dirty="0" smtClean="0"/>
              <a:t>     （四）深愁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  <a:sym typeface="+mn-ea"/>
              </a:rPr>
              <a:t>声 声 慢</a:t>
            </a:r>
            <a:endParaRPr lang="en-US" altLang="zh-CN" sz="3600" dirty="0" smtClean="0"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</a:endParaRPr>
          </a:p>
          <a:p>
            <a:r>
              <a:rPr lang="zh-CN" altLang="en-US" sz="3000" dirty="0" smtClean="0"/>
              <a:t>寻寻觅觅，冷冷清清，凄凄惨惨戚戚。乍暖还寒时候，最难将息。三杯两盏淡酒，怎敌他、晚来风急？雁过也，正伤心，却是旧时相识。     满地黄花堆积。憔悴损，如今有谁堪摘？守着窗儿，独自怎生得黑？梧桐更兼细雨，到黄昏、点点滴滴。这次第，怎一个愁字了得！</a:t>
            </a:r>
            <a:endParaRPr lang="en-US" altLang="zh-CN" sz="3000" dirty="0" smtClean="0"/>
          </a:p>
          <a:p>
            <a:r>
              <a:rPr lang="zh-CN" altLang="en-US" sz="3000" dirty="0" smtClean="0"/>
              <a:t>（作于晚年）</a:t>
            </a:r>
            <a:endParaRPr lang="zh-CN" altLang="en-US" sz="3000" dirty="0" smtClean="0"/>
          </a:p>
          <a:p>
            <a:pPr algn="r">
              <a:buNone/>
            </a:pPr>
            <a:r>
              <a:rPr lang="en-US" altLang="zh-CN" sz="3000" dirty="0" smtClean="0"/>
              <a:t>                       </a:t>
            </a:r>
            <a:r>
              <a:rPr lang="zh-CN" altLang="en-US" sz="3000" dirty="0" smtClean="0">
                <a:hlinkClick r:id="rId1" action="ppaction://hlinkfile"/>
              </a:rPr>
              <a:t>王伊</a:t>
            </a:r>
            <a:r>
              <a:rPr lang="en-US" altLang="zh-CN" sz="3000" dirty="0" smtClean="0">
                <a:hlinkClick r:id="rId1" action="ppaction://hlinkfile"/>
              </a:rPr>
              <a:t>《</a:t>
            </a:r>
            <a:r>
              <a:rPr lang="zh-CN" altLang="en-US" sz="3000" dirty="0" smtClean="0">
                <a:hlinkClick r:id="rId1" action="ppaction://hlinkfile"/>
              </a:rPr>
              <a:t>声声慢</a:t>
            </a:r>
            <a:r>
              <a:rPr lang="en-US" altLang="zh-CN" sz="3000" dirty="0" smtClean="0">
                <a:hlinkClick r:id="rId1" action="ppaction://hlinkfile"/>
              </a:rPr>
              <a:t>》.</a:t>
            </a:r>
            <a:r>
              <a:rPr lang="en-US" altLang="zh-CN" sz="3000" dirty="0" err="1" smtClean="0">
                <a:hlinkClick r:id="rId1" action="ppaction://hlinkfile"/>
              </a:rPr>
              <a:t>avi</a:t>
            </a:r>
            <a:endParaRPr lang="zh-CN" alt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参考文献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李新科《斯人独憔悴:心碎之中的退守——李清照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〈</a:t>
            </a:r>
            <a:r>
              <a:rPr lang="zh-CN" altLang="en-US">
                <a:sym typeface="+mn-ea"/>
              </a:rPr>
              <a:t>永遇乐·落日熔金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〉</a:t>
            </a:r>
            <a:r>
              <a:rPr lang="zh-CN" altLang="en-US">
                <a:sym typeface="+mn-ea"/>
              </a:rPr>
              <a:t>赏析》，《时代文学(下半月)》，2009年第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期。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	闫敬芳《</a:t>
            </a:r>
            <a:r>
              <a:rPr lang="zh-CN" altLang="en-US"/>
              <a:t>问愁何时了 绵绵无绝期——李清照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〈</a:t>
            </a:r>
            <a:r>
              <a:rPr lang="zh-CN" altLang="en-US">
                <a:sym typeface="+mn-ea"/>
              </a:rPr>
              <a:t>永遇乐·落日熔金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〉</a:t>
            </a:r>
            <a:r>
              <a:rPr lang="zh-CN" altLang="en-US"/>
              <a:t>三问解读》，《德宏师范高等专科学校学报》，	2010年第</a:t>
            </a:r>
            <a:r>
              <a:rPr lang="en-US" altLang="zh-CN"/>
              <a:t>3</a:t>
            </a:r>
            <a:r>
              <a:rPr lang="zh-CN" altLang="en-US"/>
              <a:t>期。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>
                <a:sym typeface="+mn-ea"/>
              </a:rPr>
              <a:t>俞秀红《李清照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〈</a:t>
            </a:r>
            <a:r>
              <a:rPr lang="zh-CN" altLang="en-US">
                <a:sym typeface="+mn-ea"/>
              </a:rPr>
              <a:t>永遇乐·落日熔金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〉</a:t>
            </a:r>
            <a:r>
              <a:rPr lang="zh-CN" altLang="en-US">
                <a:sym typeface="+mn-ea"/>
              </a:rPr>
              <a:t>深层的隐喻性》，《文学教育(上)》，2016第</a:t>
            </a:r>
            <a:r>
              <a:rPr lang="en-US" altLang="zh-CN">
                <a:sym typeface="+mn-ea"/>
              </a:rPr>
              <a:t>12</a:t>
            </a:r>
            <a:r>
              <a:rPr lang="zh-CN" altLang="en-US">
                <a:sym typeface="+mn-ea"/>
              </a:rPr>
              <a:t>期。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夏承焘等著《宋词鉴赏辞典》，上海辞书出版社，</a:t>
            </a:r>
            <a:r>
              <a:rPr lang="en-US" altLang="zh-CN"/>
              <a:t>2013</a:t>
            </a:r>
            <a:r>
              <a:rPr lang="zh-CN" altLang="en-US"/>
              <a:t>年版。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3600"/>
              <a:t> </a:t>
            </a:r>
            <a:r>
              <a:rPr lang="zh-CN" altLang="en-US" sz="3600">
                <a:solidFill>
                  <a:srgbClr val="002060"/>
                </a:solidFill>
              </a:rPr>
              <a:t>康震讲李清照</a:t>
            </a:r>
            <a:endParaRPr lang="zh-CN" altLang="en-US" sz="3600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4800">
                <a:hlinkClick r:id="rId1" tooltip="" action="ppaction://hlinkfile"/>
              </a:rPr>
              <a:t>康震《一代词宗》</a:t>
            </a:r>
            <a:endParaRPr lang="zh-CN" altLang="en-US" sz="4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CN" altLang="en-US" sz="3200" dirty="0" smtClean="0"/>
              <a:t>作  业</a:t>
            </a:r>
            <a:endParaRPr lang="en-US" altLang="zh-CN" sz="3200" dirty="0" smtClean="0"/>
          </a:p>
          <a:p>
            <a:r>
              <a:rPr lang="zh-CN" altLang="en-US" sz="3200" dirty="0" smtClean="0"/>
              <a:t>背诵</a:t>
            </a:r>
            <a:endParaRPr lang="en-US" altLang="zh-CN" sz="3200" dirty="0" smtClean="0"/>
          </a:p>
          <a:p>
            <a:endParaRPr lang="zh-CN" altLang="en-US" sz="3200" dirty="0" smtClean="0"/>
          </a:p>
          <a:p>
            <a:r>
              <a:rPr lang="zh-CN" altLang="en-US" sz="3200" dirty="0" smtClean="0"/>
              <a:t>李清照</a:t>
            </a:r>
            <a:r>
              <a:rPr lang="en-US" altLang="zh-CN" sz="3200" dirty="0" smtClean="0"/>
              <a:t>《</a:t>
            </a:r>
            <a:r>
              <a:rPr lang="zh-CN" altLang="en-US" sz="3200" dirty="0" smtClean="0"/>
              <a:t>永遇乐</a:t>
            </a:r>
            <a:r>
              <a:rPr lang="en-US" altLang="zh-CN" sz="3200" dirty="0" smtClean="0"/>
              <a:t>》</a:t>
            </a:r>
            <a:r>
              <a:rPr lang="zh-CN" altLang="en-US" sz="3200" dirty="0" smtClean="0"/>
              <a:t>（落日熔金）</a:t>
            </a:r>
            <a:endParaRPr lang="en-US" altLang="zh-CN" sz="3200" dirty="0" smtClean="0"/>
          </a:p>
          <a:p>
            <a:endParaRPr lang="en-US" altLang="zh-CN" sz="32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TQ4ODQwNThiYTg4YTBlNDhkZDRmNGNiNWM5NWE1YzAifQ=="/>
</p:tagLst>
</file>

<file path=ppt/theme/theme1.xml><?xml version="1.0" encoding="utf-8"?>
<a:theme xmlns:a="http://schemas.openxmlformats.org/drawingml/2006/main" name="A000120140530A99PPBG">
  <a:themeElements>
    <a:clrScheme name="自定义 669">
      <a:dk1>
        <a:srgbClr val="636363"/>
      </a:dk1>
      <a:lt1>
        <a:srgbClr val="FFFFFF"/>
      </a:lt1>
      <a:dk2>
        <a:srgbClr val="FFFFFF"/>
      </a:dk2>
      <a:lt2>
        <a:srgbClr val="5F5F5F"/>
      </a:lt2>
      <a:accent1>
        <a:srgbClr val="57453C"/>
      </a:accent1>
      <a:accent2>
        <a:srgbClr val="8F6049"/>
      </a:accent2>
      <a:accent3>
        <a:srgbClr val="AD7F23"/>
      </a:accent3>
      <a:accent4>
        <a:srgbClr val="AA4526"/>
      </a:accent4>
      <a:accent5>
        <a:srgbClr val="AB4379"/>
      </a:accent5>
      <a:accent6>
        <a:srgbClr val="00B050"/>
      </a:accent6>
      <a:hlink>
        <a:srgbClr val="474747"/>
      </a:hlink>
      <a:folHlink>
        <a:srgbClr val="9F9F9F"/>
      </a:folHlink>
    </a:clrScheme>
    <a:fontScheme name="自定义 21">
      <a:majorFont>
        <a:latin typeface="Bodoni MT"/>
        <a:ea typeface="华文新魏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A000120150822A20PPBG</Template>
  <TotalTime>0</TotalTime>
  <Words>2379</Words>
  <Application>WPS 演示</Application>
  <PresentationFormat>全屏显示(4:3)</PresentationFormat>
  <Paragraphs>193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 2</vt:lpstr>
      <vt:lpstr>幼圆</vt:lpstr>
      <vt:lpstr>华文新魏</vt:lpstr>
      <vt:lpstr>Arial Unicode MS</vt:lpstr>
      <vt:lpstr>Calibri</vt:lpstr>
      <vt:lpstr>Bodoni MT</vt:lpstr>
      <vt:lpstr>隶书</vt:lpstr>
      <vt:lpstr>楷体_GB2312</vt:lpstr>
      <vt:lpstr>新宋体</vt:lpstr>
      <vt:lpstr>A000120140530A99PPBG</vt:lpstr>
      <vt:lpstr>  宋  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（一）浅愁</vt:lpstr>
      <vt:lpstr>（一）浅愁</vt:lpstr>
      <vt:lpstr>（二）闲愁</vt:lpstr>
      <vt:lpstr>（二）闲愁</vt:lpstr>
      <vt:lpstr> （三）哀愁</vt:lpstr>
      <vt:lpstr> （三）哀愁</vt:lpstr>
      <vt:lpstr>《永遇乐》中的隐喻</vt:lpstr>
      <vt:lpstr> （三）哀愁</vt:lpstr>
      <vt:lpstr>     （四）深愁</vt:lpstr>
      <vt:lpstr>参考文献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   作文教学</dc:title>
  <dc:creator>think</dc:creator>
  <cp:lastModifiedBy>丝路放歌</cp:lastModifiedBy>
  <cp:revision>86</cp:revision>
  <dcterms:created xsi:type="dcterms:W3CDTF">2015-11-05T11:55:00Z</dcterms:created>
  <dcterms:modified xsi:type="dcterms:W3CDTF">2024-03-29T03:36:40Z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D64CD2852F5346BDA4E0B5112354C163</vt:lpwstr>
  </property>
  <property fmtid="{D5CDD505-2E9C-101B-9397-08002B2CF9AE}" pid="4" name="commondata">
    <vt:lpwstr>eyJoZGlkIjoiMDlkZTJiZjExZGIyMjgwYWY3OTYyZDQ4M2MxMjNhNjYifQ==</vt:lpwstr>
  </property>
</Properties>
</file>